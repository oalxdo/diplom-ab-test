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308" r:id="rId3"/>
    <p:sldId id="312" r:id="rId4"/>
    <p:sldId id="264" r:id="rId5"/>
    <p:sldId id="266" r:id="rId6"/>
    <p:sldId id="313" r:id="rId7"/>
    <p:sldId id="263" r:id="rId8"/>
    <p:sldId id="310" r:id="rId9"/>
    <p:sldId id="311" r:id="rId10"/>
    <p:sldId id="257" r:id="rId11"/>
    <p:sldId id="258" r:id="rId12"/>
    <p:sldId id="259" r:id="rId13"/>
    <p:sldId id="260" r:id="rId14"/>
    <p:sldId id="261" r:id="rId15"/>
    <p:sldId id="267" r:id="rId16"/>
    <p:sldId id="268" r:id="rId17"/>
    <p:sldId id="314" r:id="rId18"/>
    <p:sldId id="309" r:id="rId19"/>
    <p:sldId id="346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на" initials="А" lastIdx="1" clrIdx="0">
    <p:extLst>
      <p:ext uri="{19B8F6BF-5375-455C-9EA6-DF929625EA0E}">
        <p15:presenceInfo xmlns:p15="http://schemas.microsoft.com/office/powerpoint/2012/main" userId="95dcf4202a1beb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53" d="100"/>
          <a:sy n="53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ECF1F-42D4-4E65-8A07-31E15433FFC0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8CD8-609E-4E3B-B37A-2B54BFA54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7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79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78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43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52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70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71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64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49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993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72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93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DC1D995-C37D-4553-9B2E-56C5049E7545}" type="datetimeFigureOut">
              <a:rPr lang="ru-RU" smtClean="0"/>
              <a:t>03.11.2022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529FACB-B495-49FD-905A-CCCF981E5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49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A2867-28C4-4EE3-94D8-1A652E9AC3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Функциональные требования к ИС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B98495-9C8D-4308-B924-C04159A00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(переход от пользовательских)</a:t>
            </a:r>
          </a:p>
        </p:txBody>
      </p:sp>
    </p:spTree>
    <p:extLst>
      <p:ext uri="{BB962C8B-B14F-4D97-AF65-F5344CB8AC3E}">
        <p14:creationId xmlns:p14="http://schemas.microsoft.com/office/powerpoint/2010/main" val="323517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701096-8EEB-429C-9E7A-0735DD9F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425568-F492-4BE2-AE2C-A1A95FA2F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6C0F19-678D-49CE-A88E-79EB83BE06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20" t="17233" r="12226" b="1286"/>
          <a:stretch/>
        </p:blipFill>
        <p:spPr>
          <a:xfrm>
            <a:off x="257176" y="314324"/>
            <a:ext cx="11277600" cy="62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2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29EAA-1F22-4C41-9A2B-A1607304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2E8CFA-6AF2-42AD-B2AA-5A2894B60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F43E20-B090-430F-A600-5486AEB65E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45" t="17406" r="13837" b="5210"/>
          <a:stretch/>
        </p:blipFill>
        <p:spPr>
          <a:xfrm>
            <a:off x="297710" y="276446"/>
            <a:ext cx="11269189" cy="60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5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78682-DDF4-42A3-9260-40E4EB00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/>
              <a:t>К необходимым элементам описания варианта использования относятся: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CD66F1-81F3-4BC9-BA43-FD4546FC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уникальный идентификатор и краткое имя, определяющее цель пользователя;</a:t>
            </a:r>
          </a:p>
          <a:p>
            <a:r>
              <a:rPr lang="ru-RU" b="1" dirty="0"/>
              <a:t>• краткое текстовое описание цели варианта использования;</a:t>
            </a:r>
          </a:p>
          <a:p>
            <a:r>
              <a:rPr lang="ru-RU" b="1" dirty="0"/>
              <a:t>• условие-триггер, инициирующее выполнение варианта использования;</a:t>
            </a:r>
          </a:p>
          <a:p>
            <a:r>
              <a:rPr lang="ru-RU" b="1" dirty="0"/>
              <a:t>• список предварительных условий (ноль или больше), которые должны быть удовлетворены до начала выполнения варианта использования;</a:t>
            </a:r>
          </a:p>
          <a:p>
            <a:r>
              <a:rPr lang="ru-RU" b="1" dirty="0"/>
              <a:t>• одно или больше выходных условий, описывающих состояние системы после успешного завершения варианта использования;</a:t>
            </a:r>
          </a:p>
          <a:p>
            <a:r>
              <a:rPr lang="ru-RU" b="1" dirty="0"/>
              <a:t>• пронумерованный список действий, иллюстрирующий последовательность этапов взаимодействия действующего лица и системы (диалогов) от предварительных до выходных условий.</a:t>
            </a:r>
          </a:p>
        </p:txBody>
      </p:sp>
    </p:spTree>
    <p:extLst>
      <p:ext uri="{BB962C8B-B14F-4D97-AF65-F5344CB8AC3E}">
        <p14:creationId xmlns:p14="http://schemas.microsoft.com/office/powerpoint/2010/main" val="330916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C5894-57F6-40CB-8C5D-3ABD9512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676466" cy="13208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4400" b="1" dirty="0"/>
              <a:t>Диаграмма, иллюстрирующая диалоговый поток при нормальном и альтернативном развитии варианта использования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64294FB-3CD9-4548-B171-3B0CBE840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044" t="15010" r="26077" b="9730"/>
          <a:stretch/>
        </p:blipFill>
        <p:spPr>
          <a:xfrm>
            <a:off x="6357149" y="1557175"/>
            <a:ext cx="5573593" cy="508727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415A93-8B8C-48BA-950D-3F33DEA79452}"/>
              </a:ext>
            </a:extLst>
          </p:cNvPr>
          <p:cNvSpPr/>
          <p:nvPr/>
        </p:nvSpPr>
        <p:spPr>
          <a:xfrm>
            <a:off x="469242" y="2317815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Предварительные условия (</a:t>
            </a:r>
            <a:r>
              <a:rPr lang="ru-RU" dirty="0" err="1"/>
              <a:t>preconditions</a:t>
            </a:r>
            <a:r>
              <a:rPr lang="ru-RU" dirty="0"/>
              <a:t>) определяют, что должно присутствовать до выполнения варианта использования в системе (банкомат – деньги) Проверка при триггере!</a:t>
            </a:r>
          </a:p>
          <a:p>
            <a:r>
              <a:rPr lang="ru-RU" dirty="0"/>
              <a:t>Выходные условия (</a:t>
            </a:r>
            <a:r>
              <a:rPr lang="ru-RU" dirty="0" err="1"/>
              <a:t>postconditions</a:t>
            </a:r>
            <a:r>
              <a:rPr lang="ru-RU" dirty="0"/>
              <a:t>) описывают состояние системы после успешного выполнения варианта использования. </a:t>
            </a:r>
          </a:p>
          <a:p>
            <a:r>
              <a:rPr lang="ru-RU" dirty="0"/>
              <a:t>Выходные условия могут описывать:</a:t>
            </a:r>
          </a:p>
          <a:p>
            <a:r>
              <a:rPr lang="ru-RU" dirty="0"/>
              <a:t>• что-то, что пользователь может наблюдать сам (система отображает остаток на счете);</a:t>
            </a:r>
          </a:p>
          <a:p>
            <a:r>
              <a:rPr lang="ru-RU" dirty="0"/>
              <a:t>• физические результаты (банкомат выдал деньги и распечатал чек);</a:t>
            </a:r>
          </a:p>
          <a:p>
            <a:r>
              <a:rPr lang="ru-RU" dirty="0"/>
              <a:t>• состояния системы (счет дебетован на сумму выданных средств и применимых комиссий).</a:t>
            </a:r>
          </a:p>
        </p:txBody>
      </p:sp>
    </p:spTree>
    <p:extLst>
      <p:ext uri="{BB962C8B-B14F-4D97-AF65-F5344CB8AC3E}">
        <p14:creationId xmlns:p14="http://schemas.microsoft.com/office/powerpoint/2010/main" val="356035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2E327-BA64-4265-B38E-88745755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769EB5-D23A-4FEF-83AE-09E486F52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3C1698-E264-4449-8621-DBEC528F39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45" t="17406" r="12965" b="5210"/>
          <a:stretch/>
        </p:blipFill>
        <p:spPr>
          <a:xfrm>
            <a:off x="0" y="0"/>
            <a:ext cx="11914983" cy="63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7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1BFB5-F03C-45B0-9F04-EF7E09C8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622498-04B4-4A19-867E-A973A2A61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A5B3DF-F609-4F2C-A58B-6106FBA9BC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59" t="6546" r="15500" b="439"/>
          <a:stretch/>
        </p:blipFill>
        <p:spPr>
          <a:xfrm>
            <a:off x="814878" y="-1"/>
            <a:ext cx="7429962" cy="681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9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27A15-2EA4-4E19-85CE-DE2FE193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F7348E-E5AB-485F-BA42-3E7B5B64C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0DFE45-274D-4063-B325-A449D7B32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98" t="16755" r="12442" b="2612"/>
          <a:stretch/>
        </p:blipFill>
        <p:spPr>
          <a:xfrm>
            <a:off x="0" y="0"/>
            <a:ext cx="11665736" cy="63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4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518C5-6A59-4D1B-B68D-2EBF056D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3235B7-08DA-4004-A721-A81F3D15A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38B125-1908-4EE4-BFA2-F2547B7898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40" t="16796" r="12461" b="5211"/>
          <a:stretch/>
        </p:blipFill>
        <p:spPr>
          <a:xfrm>
            <a:off x="157161" y="0"/>
            <a:ext cx="11914212" cy="63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BD7B0-DF8A-496C-B08C-77D74E4C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00" b="1" dirty="0"/>
              <a:t>Примеры вариантов использования и соответствующих пользовательских историй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5657CC0-A15B-4016-9D9A-12BD8BAA5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669" t="18150" r="15213" b="41408"/>
          <a:stretch/>
        </p:blipFill>
        <p:spPr>
          <a:xfrm>
            <a:off x="657224" y="2157731"/>
            <a:ext cx="10563017" cy="420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6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F81141C9-5E8C-4BBC-9329-474BCAAC3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3A52D0-7F1E-4497-B067-4D813EA01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25" t="59290" r="16375" b="20177"/>
          <a:stretch/>
        </p:blipFill>
        <p:spPr>
          <a:xfrm>
            <a:off x="677334" y="2096797"/>
            <a:ext cx="10768864" cy="2307251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F364AF-97C6-4AA2-A988-D0FA1384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84F3ECF-229D-4866-B9CD-2E86D7A33165}"/>
              </a:ext>
            </a:extLst>
          </p:cNvPr>
          <p:cNvSpPr txBox="1">
            <a:spLocks/>
          </p:cNvSpPr>
          <p:nvPr/>
        </p:nvSpPr>
        <p:spPr>
          <a:xfrm>
            <a:off x="809624" y="6519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b="1" dirty="0"/>
              <a:t>Примеры вариантов использования и соответствующих пользовательских историй</a:t>
            </a:r>
          </a:p>
        </p:txBody>
      </p:sp>
    </p:spTree>
    <p:extLst>
      <p:ext uri="{BB962C8B-B14F-4D97-AF65-F5344CB8AC3E}">
        <p14:creationId xmlns:p14="http://schemas.microsoft.com/office/powerpoint/2010/main" val="177407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E44BE-5652-4CA6-9CDF-7633D647D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00" b="1" dirty="0"/>
              <a:t>Разница в вариантах использования и соответствующих пользовательских историях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3ECCC6E-24D0-40C2-A0C3-E40E55A6C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219" t="34004" r="22220" b="29748"/>
          <a:stretch/>
        </p:blipFill>
        <p:spPr>
          <a:xfrm>
            <a:off x="657224" y="1880430"/>
            <a:ext cx="10576518" cy="447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2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2C4B4-1A51-4555-8D02-FDA6106F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/>
              <a:t>Применение варианта использования (вопросы)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075926-8A6D-44E4-B947-0BBAB59D5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387009"/>
            <a:ext cx="10753725" cy="3766185"/>
          </a:xfrm>
        </p:spPr>
        <p:txBody>
          <a:bodyPr>
            <a:normAutofit/>
          </a:bodyPr>
          <a:lstStyle/>
          <a:p>
            <a:r>
              <a:rPr lang="ru-RU" sz="3600" dirty="0"/>
              <a:t>• Кто (или что) уведомляется, если что-то происходит внутри системы?</a:t>
            </a:r>
          </a:p>
          <a:p>
            <a:r>
              <a:rPr lang="ru-RU" sz="3600" dirty="0"/>
              <a:t>• Кто (или что) предоставляет системе информацию и сервисы?</a:t>
            </a:r>
          </a:p>
          <a:p>
            <a:r>
              <a:rPr lang="ru-RU" sz="3600" dirty="0"/>
              <a:t>• Кто (или что) помогает системе среагировать и выполнить задачу?</a:t>
            </a:r>
          </a:p>
        </p:txBody>
      </p:sp>
    </p:spTree>
    <p:extLst>
      <p:ext uri="{BB962C8B-B14F-4D97-AF65-F5344CB8AC3E}">
        <p14:creationId xmlns:p14="http://schemas.microsoft.com/office/powerpoint/2010/main" val="2670323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84CDAF8A-37BB-4EAB-B30D-61A2E0EFB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506" t="22470" r="17302" b="10781"/>
          <a:stretch/>
        </p:blipFill>
        <p:spPr>
          <a:xfrm>
            <a:off x="5589494" y="2276669"/>
            <a:ext cx="6602506" cy="458133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1BB82-E0A5-4798-9B86-F205750F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22" y="322346"/>
            <a:ext cx="11248637" cy="2225006"/>
          </a:xfrm>
        </p:spPr>
        <p:txBody>
          <a:bodyPr>
            <a:normAutofit/>
          </a:bodyPr>
          <a:lstStyle/>
          <a:p>
            <a:r>
              <a:rPr lang="ru-RU" dirty="0"/>
              <a:t>Фрагмент диаграммы варианта использования системы </a:t>
            </a:r>
            <a:br>
              <a:rPr lang="ru-RU" dirty="0"/>
            </a:br>
            <a:r>
              <a:rPr lang="ru-RU" b="1" dirty="0" err="1"/>
              <a:t>Chemical</a:t>
            </a:r>
            <a:r>
              <a:rPr lang="ru-RU" b="1" dirty="0"/>
              <a:t> </a:t>
            </a:r>
            <a:r>
              <a:rPr lang="ru-RU" b="1" dirty="0" err="1"/>
              <a:t>Tracking</a:t>
            </a:r>
            <a:r>
              <a:rPr lang="ru-RU" b="1" dirty="0"/>
              <a:t> </a:t>
            </a:r>
            <a:r>
              <a:rPr lang="ru-RU" b="1" dirty="0" err="1"/>
              <a:t>System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33700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37D8E-DF5E-4EFF-AA99-ED923802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варианта использования включает взаимосвязь «расширить» в системе </a:t>
            </a:r>
            <a:r>
              <a:rPr lang="ru-RU" sz="5300" b="1" dirty="0" err="1"/>
              <a:t>Chemical</a:t>
            </a:r>
            <a:r>
              <a:rPr lang="ru-RU" sz="5300" b="1" dirty="0"/>
              <a:t> </a:t>
            </a:r>
            <a:r>
              <a:rPr lang="ru-RU" sz="5300" b="1" dirty="0" err="1"/>
              <a:t>Tracking</a:t>
            </a:r>
            <a:r>
              <a:rPr lang="ru-RU" sz="5300" b="1" dirty="0"/>
              <a:t> </a:t>
            </a:r>
            <a:r>
              <a:rPr lang="ru-RU" sz="5300" b="1" dirty="0" err="1"/>
              <a:t>System</a:t>
            </a:r>
            <a:endParaRPr lang="ru-RU" sz="5300" b="1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A66906B-EC59-4C0A-A978-6A01DBA7C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252" t="32679" r="39241" b="57112"/>
          <a:stretch/>
        </p:blipFill>
        <p:spPr>
          <a:xfrm>
            <a:off x="1346408" y="2460314"/>
            <a:ext cx="7416794" cy="13207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D3049E-97C6-4D90-B398-8BB59D8FC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37551" r="36000" b="39900"/>
          <a:stretch/>
        </p:blipFill>
        <p:spPr>
          <a:xfrm>
            <a:off x="3218750" y="3935030"/>
            <a:ext cx="7193280" cy="268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2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BEB00-E06F-497B-8609-601A1C6D5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b="1" dirty="0"/>
              <a:t>Соответствие </a:t>
            </a:r>
            <a:br>
              <a:rPr lang="ru-RU" sz="4800" b="1" dirty="0"/>
            </a:br>
            <a:r>
              <a:rPr lang="ru-RU" sz="4800" b="1" dirty="0"/>
              <a:t>предварительных и выходных условий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09008D3-C07E-4129-8EB5-0EFDD366D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834" t="50740" r="30048" b="19027"/>
          <a:stretch/>
        </p:blipFill>
        <p:spPr>
          <a:xfrm>
            <a:off x="1759442" y="2157731"/>
            <a:ext cx="8968243" cy="35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71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23CB9-6415-4D4D-BE50-96EE09C3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E3D87-52A4-4620-9320-5A9D97B7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D085D5-EB78-4D6D-BA7D-36A727D40F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44" t="17082" r="12093" b="1312"/>
          <a:stretch/>
        </p:blipFill>
        <p:spPr>
          <a:xfrm>
            <a:off x="0" y="0"/>
            <a:ext cx="123225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14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EE9ED-E96E-4896-8FC9-5543D730C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3CCE43-DCF8-4174-BB04-6A7943699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643F27-05BA-4DBB-92DC-AAA81BAAB9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7" t="16430" r="13139" b="5211"/>
          <a:stretch/>
        </p:blipFill>
        <p:spPr>
          <a:xfrm>
            <a:off x="0" y="0"/>
            <a:ext cx="11780874" cy="632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50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28A82-6716-4596-9EE9-EE85242F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8C20E1-785F-47FA-A5B4-03ACA986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C384D3-8071-4E24-81EC-1C2477B5E5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12" t="8248" r="17113" b="10378"/>
          <a:stretch/>
        </p:blipFill>
        <p:spPr>
          <a:xfrm>
            <a:off x="584460" y="87282"/>
            <a:ext cx="11312165" cy="668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42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32430-F9E7-49C8-8D0E-49BDDDF7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использования и 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8DAA26-BC68-4350-ABA7-1CC3C7612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2949"/>
            <a:ext cx="8596668" cy="3880773"/>
          </a:xfrm>
        </p:spPr>
        <p:txBody>
          <a:bodyPr/>
          <a:lstStyle/>
          <a:p>
            <a:r>
              <a:rPr lang="ru-RU" dirty="0"/>
              <a:t>Разработчики ПО не реализуют пользовательские или бизнес-требования.</a:t>
            </a:r>
          </a:p>
          <a:p>
            <a:r>
              <a:rPr lang="ru-RU" dirty="0"/>
              <a:t>Они реализуют функциональные требования, посредством определения фрагментов поведения системы (диаграммы последовательности </a:t>
            </a:r>
            <a:r>
              <a:rPr lang="en-US" dirty="0"/>
              <a:t>(sequence)</a:t>
            </a:r>
            <a:r>
              <a:rPr lang="ru-RU" dirty="0"/>
              <a:t>)</a:t>
            </a:r>
          </a:p>
        </p:txBody>
      </p:sp>
      <p:pic>
        <p:nvPicPr>
          <p:cNvPr id="1026" name="Picture 2" descr="Диаграммы взаимодействия, Диаграмма последовательности., Диаграмма  кооперации. - УПРАВЛЕНИЕ ЖИЗНЕННЫМ ЦИКЛОМ ИНФОРМАЦИОННЫХ СИСТЕМ">
            <a:extLst>
              <a:ext uri="{FF2B5EF4-FFF2-40B4-BE49-F238E27FC236}">
                <a16:creationId xmlns:a16="http://schemas.microsoft.com/office/drawing/2014/main" id="{43204E0C-FC8A-4BA8-AE19-D1A1548E1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3589633"/>
            <a:ext cx="5472007" cy="285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643B61-29B7-498A-A838-100CE1C0A601}"/>
              </a:ext>
            </a:extLst>
          </p:cNvPr>
          <p:cNvSpPr/>
          <p:nvPr/>
        </p:nvSpPr>
        <p:spPr>
          <a:xfrm>
            <a:off x="433493" y="6442948"/>
            <a:ext cx="8402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https://babok-school.ru/blogs/uml-sequence-diagram-example/</a:t>
            </a:r>
          </a:p>
        </p:txBody>
      </p:sp>
    </p:spTree>
    <p:extLst>
      <p:ext uri="{BB962C8B-B14F-4D97-AF65-F5344CB8AC3E}">
        <p14:creationId xmlns:p14="http://schemas.microsoft.com/office/powerpoint/2010/main" val="288308425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322</Words>
  <Application>Microsoft Office PowerPoint</Application>
  <PresentationFormat>Широкоэкранный</PresentationFormat>
  <Paragraphs>30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Метрополия</vt:lpstr>
      <vt:lpstr>Функциональные требования к ИС</vt:lpstr>
      <vt:lpstr>Презентация PowerPoint</vt:lpstr>
      <vt:lpstr>Презентация PowerPoint</vt:lpstr>
      <vt:lpstr>К необходимым элементам описания варианта использования относятся:</vt:lpstr>
      <vt:lpstr>Диаграмма, иллюстрирующая диалоговый поток при нормальном и альтернативном развитии варианта использования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 вариантов использования и соответствующих пользовательских историй</vt:lpstr>
      <vt:lpstr>Презентация PowerPoint</vt:lpstr>
      <vt:lpstr>Разница в вариантах использования и соответствующих пользовательских историях</vt:lpstr>
      <vt:lpstr>Применение варианта использования (вопросы)</vt:lpstr>
      <vt:lpstr>Фрагмент диаграммы варианта использования системы  Chemical Tracking System</vt:lpstr>
      <vt:lpstr>Пример варианта использования включает взаимосвязь «расширить» в системе Chemical Tracking System</vt:lpstr>
      <vt:lpstr>Соответствие  предварительных и выходных условий</vt:lpstr>
      <vt:lpstr>Презентация PowerPoint</vt:lpstr>
      <vt:lpstr>Презентация PowerPoint</vt:lpstr>
      <vt:lpstr>Презентация PowerPoint</vt:lpstr>
      <vt:lpstr>Варианты использования и функциональные требования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</dc:title>
  <dc:creator>Аня Аня</dc:creator>
  <cp:lastModifiedBy>Сальников Александр</cp:lastModifiedBy>
  <cp:revision>30</cp:revision>
  <dcterms:created xsi:type="dcterms:W3CDTF">2021-10-12T08:12:15Z</dcterms:created>
  <dcterms:modified xsi:type="dcterms:W3CDTF">2022-11-03T08:20:20Z</dcterms:modified>
</cp:coreProperties>
</file>