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92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91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1212"/>
    <a:srgbClr val="0065B0"/>
    <a:srgbClr val="9E22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&#1052;&#1072;&#1088;&#1096;&#1088;&#1091;&#1090;&#1080;&#1079;&#1072;&#1090;&#1086;&#1088;%20&#1087;&#1072;&#1087;&#1086;&#1082;\&#1059;&#1095;&#1077;&#1073;&#1072;\&#1042;&#1050;&#1056;\&#1041;&#1072;&#1079;&#1072;%20&#1079;&#1085;&#1072;&#1085;&#1080;&#1081;\&#1051;&#1080;&#1089;&#1090;%20Microsoft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&#1052;&#1072;&#1088;&#1096;&#1088;&#1091;&#1090;&#1080;&#1079;&#1072;&#1090;&#1086;&#1088;%20&#1087;&#1072;&#1087;&#1086;&#1082;\&#1059;&#1095;&#1077;&#1073;&#1072;\&#1042;&#1050;&#1056;\&#1041;&#1072;&#1079;&#1072;%20&#1079;&#1085;&#1072;&#1085;&#1080;&#1081;\&#1051;&#1080;&#1089;&#1090;%20Microsoft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&#1052;&#1072;&#1088;&#1096;&#1088;&#1091;&#1090;&#1080;&#1079;&#1072;&#1090;&#1086;&#1088;%20&#1087;&#1072;&#1087;&#1086;&#1082;\&#1059;&#1095;&#1077;&#1073;&#1072;\&#1042;&#1050;&#1056;\&#1041;&#1072;&#1079;&#1072;%20&#1079;&#1085;&#1072;&#1085;&#1080;&#1081;\&#1051;&#1080;&#1089;&#1090;%20Microsoft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трудоемкости обработки обращений за год в базовом и проектном вариантах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9.8946497520749133E-2"/>
          <c:y val="0.15485525319045221"/>
          <c:w val="0.5272977342799936"/>
          <c:h val="0.7788403241291493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Лист1!$B$2:$C$2</c:f>
              <c:strCache>
                <c:ptCount val="2"/>
                <c:pt idx="0">
                  <c:v>Базовый вариант</c:v>
                </c:pt>
                <c:pt idx="1">
                  <c:v>Проектный вариант</c:v>
                </c:pt>
              </c:strCache>
            </c:strRef>
          </c:cat>
          <c:val>
            <c:numRef>
              <c:f>Лист1!$B$3:$C$3</c:f>
              <c:numCache>
                <c:formatCode>#,##0</c:formatCode>
                <c:ptCount val="2"/>
                <c:pt idx="0">
                  <c:v>27495</c:v>
                </c:pt>
                <c:pt idx="1">
                  <c:v>20621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84-4A73-8D6C-321B1E3ED7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56189120"/>
        <c:axId val="1956189600"/>
      </c:barChart>
      <c:catAx>
        <c:axId val="1956189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956189600"/>
        <c:crosses val="autoZero"/>
        <c:auto val="1"/>
        <c:lblAlgn val="ctr"/>
        <c:lblOffset val="100"/>
        <c:noMultiLvlLbl val="0"/>
      </c:catAx>
      <c:valAx>
        <c:axId val="1956189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Трудоемкость, час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956189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18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стоимостных затрат в год в базовом и проектном</a:t>
            </a:r>
            <a:r>
              <a:rPr lang="ru-RU" sz="1800" b="1" i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вариантах</a:t>
            </a:r>
            <a:endParaRPr lang="ru-RU" sz="1800" b="1" i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9.2547103817828616E-2"/>
          <c:y val="0.15501970629397618"/>
          <c:w val="0.52614328619241779"/>
          <c:h val="0.7753941947987146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5A0E1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Лист1!$B$7:$C$7</c:f>
              <c:strCache>
                <c:ptCount val="2"/>
                <c:pt idx="0">
                  <c:v>Базовый вариант</c:v>
                </c:pt>
                <c:pt idx="1">
                  <c:v>Проектный вариант</c:v>
                </c:pt>
              </c:strCache>
            </c:strRef>
          </c:cat>
          <c:val>
            <c:numRef>
              <c:f>Лист1!$B$8:$C$8</c:f>
              <c:numCache>
                <c:formatCode>#,##0</c:formatCode>
                <c:ptCount val="2"/>
                <c:pt idx="0">
                  <c:v>14297400</c:v>
                </c:pt>
                <c:pt idx="1">
                  <c:v>11497056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CE-476B-88EC-B180CED434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51925904"/>
        <c:axId val="1951927824"/>
      </c:barChart>
      <c:catAx>
        <c:axId val="195192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1951927824"/>
        <c:crosses val="autoZero"/>
        <c:auto val="1"/>
        <c:lblAlgn val="ctr"/>
        <c:lblOffset val="100"/>
        <c:noMultiLvlLbl val="0"/>
      </c:catAx>
      <c:valAx>
        <c:axId val="19519278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2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Стоимостные</a:t>
                </a:r>
                <a:r>
                  <a:rPr lang="ru-RU" sz="1200" b="1" baseline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затраты, руб.</a:t>
                </a:r>
                <a:endParaRPr lang="ru-RU" sz="12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51925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398967693370644"/>
          <c:y val="6.4889910993523661E-2"/>
          <c:w val="0.47349412551133968"/>
          <c:h val="0.9011201356289163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Лист3!$B$3</c:f>
              <c:strCache>
                <c:ptCount val="1"/>
                <c:pt idx="0">
                  <c:v>Снижение повторных обращений 
(~10 310 · 20% · 200 руб.)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C52-4B4B-A863-F2ABEE6369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Лист3!$C$2</c:f>
              <c:strCache>
                <c:ptCount val="1"/>
                <c:pt idx="0">
                  <c:v>руб./год</c:v>
                </c:pt>
              </c:strCache>
            </c:strRef>
          </c:cat>
          <c:val>
            <c:numRef>
              <c:f>Лист3!$C$3</c:f>
              <c:numCache>
                <c:formatCode>#,##0</c:formatCode>
                <c:ptCount val="1"/>
                <c:pt idx="0">
                  <c:v>41240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C52-4B4B-A863-F2ABEE6369B8}"/>
            </c:ext>
          </c:extLst>
        </c:ser>
        <c:ser>
          <c:idx val="1"/>
          <c:order val="1"/>
          <c:tx>
            <c:strRef>
              <c:f>Лист3!$B$4</c:f>
              <c:strCache>
                <c:ptCount val="1"/>
                <c:pt idx="0">
                  <c:v>Сокращение потерь от задержки первого ответа 
(15 000 · 25% · 80 руб.)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Лист3!$C$2</c:f>
              <c:strCache>
                <c:ptCount val="1"/>
                <c:pt idx="0">
                  <c:v>руб./год</c:v>
                </c:pt>
              </c:strCache>
            </c:strRef>
          </c:cat>
          <c:val>
            <c:numRef>
              <c:f>Лист3!$C$4</c:f>
              <c:numCache>
                <c:formatCode>#,##0</c:formatCode>
                <c:ptCount val="1"/>
                <c:pt idx="0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52-4B4B-A863-F2ABEE6369B8}"/>
            </c:ext>
          </c:extLst>
        </c:ser>
        <c:ser>
          <c:idx val="2"/>
          <c:order val="2"/>
          <c:tx>
            <c:strRef>
              <c:f>Лист3!$B$5</c:f>
              <c:strCache>
                <c:ptCount val="1"/>
                <c:pt idx="0">
                  <c:v>Снижение доли обращений без ответа
(~7 217 · 35% · 120 руб.)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Лист3!$C$2</c:f>
              <c:strCache>
                <c:ptCount val="1"/>
                <c:pt idx="0">
                  <c:v>руб./год</c:v>
                </c:pt>
              </c:strCache>
            </c:strRef>
          </c:cat>
          <c:val>
            <c:numRef>
              <c:f>Лист3!$C$5</c:f>
              <c:numCache>
                <c:formatCode>#,##0</c:formatCode>
                <c:ptCount val="1"/>
                <c:pt idx="0">
                  <c:v>30312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52-4B4B-A863-F2ABEE6369B8}"/>
            </c:ext>
          </c:extLst>
        </c:ser>
        <c:ser>
          <c:idx val="3"/>
          <c:order val="3"/>
          <c:tx>
            <c:strRef>
              <c:f>Лист3!$B$6</c:f>
              <c:strCache>
                <c:ptCount val="1"/>
                <c:pt idx="0">
                  <c:v>Снижение избыточных эскалаций
(~12 373 · 10% · 150 руб.)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Лист3!$C$2</c:f>
              <c:strCache>
                <c:ptCount val="1"/>
                <c:pt idx="0">
                  <c:v>руб./год</c:v>
                </c:pt>
              </c:strCache>
            </c:strRef>
          </c:cat>
          <c:val>
            <c:numRef>
              <c:f>Лист3!$C$6</c:f>
              <c:numCache>
                <c:formatCode>#,##0</c:formatCode>
                <c:ptCount val="1"/>
                <c:pt idx="0">
                  <c:v>18560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C52-4B4B-A863-F2ABEE6369B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06022192"/>
        <c:axId val="2006024112"/>
      </c:barChart>
      <c:catAx>
        <c:axId val="20060221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2006024112"/>
        <c:crosses val="autoZero"/>
        <c:auto val="1"/>
        <c:lblAlgn val="ctr"/>
        <c:lblOffset val="100"/>
        <c:noMultiLvlLbl val="0"/>
      </c:catAx>
      <c:valAx>
        <c:axId val="20060241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ru-RU" sz="14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Рублей в год</a:t>
                </a:r>
              </a:p>
            </c:rich>
          </c:tx>
          <c:layout>
            <c:manualLayout>
              <c:xMode val="edge"/>
              <c:yMode val="edge"/>
              <c:x val="5.3247097210066811E-2"/>
              <c:y val="0.4228038748223863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ru-RU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20060221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755353616036958"/>
          <c:y val="0.20970055063544019"/>
          <c:w val="0.34372999269236548"/>
          <c:h val="0.5781985863483083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EB7BA4-CB22-2E85-1A4E-E188B17FD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2DD3C1-1DD1-931E-3ED2-75C76523F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A30652-A203-E426-7060-6B85AC02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44115F-3F80-0BE8-A26E-7B0AE496A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FA6A4-D17C-E98B-E2D5-95DAF600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EF370-356C-0648-4AE8-5E49AAE3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AF9092-A2B5-041B-7EEE-12CA71887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288E7A-72D9-E7D3-051F-6FCB3D2A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92E9E-7E37-6843-369B-BC265314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6B7BEC-ED8B-FA0F-B120-71CF7BCA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303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71290-6DBF-8B46-D39A-FF453910C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676A3C-1232-ACCA-7AFC-1B5D47F31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6425BF-5DE1-AF5D-800B-0048C0D12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AD1E75-0D07-D21C-918F-80E291158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070107-8366-D77A-70C2-8BAF71E9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0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78E14C-C262-13D1-3BA7-A37BA7274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23C3AB-9BF0-D326-D8F5-107B108B4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F93B97-0113-3133-E011-4BA5DE454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7485C7-5A18-7805-CECB-AF1716DE6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00475F0-13B2-A834-EF0E-FF7B758B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3EDAADA-F22F-AE12-778F-8C518FAC2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477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1F65C-E1CD-44C5-C417-2E729E4D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67903D-4794-4171-47C5-8F4AD9FEA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025807-A8BB-19A1-2903-8B5D8F91F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3E6204-D7DE-8D4C-39E0-7586E3B7EB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43ADFBA-7F03-5955-85AD-1B61F4459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B3DBACA-3686-7AAD-E23D-1BD6E27A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5D09F6-D4E0-0E3E-30D0-B2120E6F9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83361FF-4377-8D49-C886-C88736750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293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FFFFF-0ABD-000E-E87E-F0C5B797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CD09F8-8DE2-FC3B-6F68-8DD094FC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CC2037C-899A-FEAC-9719-87188953E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8A6BFC-5E65-5932-38A3-5E904F00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348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DE8732C-FBA9-B255-D23D-3F77465D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1FD123E-C58B-15A6-E281-5963A5547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4F39CB-9F05-3B0F-0654-A720CE7D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74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844062-D4E2-1CCE-AAEF-70414AD4C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DA0FA-F0BA-9840-8F7E-BC273A357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26963CC-48D8-FE0F-B908-EB85B640D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9EBAA0-2A9A-992C-4595-0FC626C4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C5FD8C-90CC-1B9E-1BBF-8DBCD495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71F5576-0EF8-62E4-AF7A-54ED4F275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024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477036-7611-D8A9-3AB6-1F771EDE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B02BCE9-F52C-6E61-F8BE-550224ABD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E31C22-EBE5-9E05-D86A-A77AE0586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28697F-A08A-7401-46DE-C02D6C07B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4F12F6-D51E-F2DE-4AC6-8D931BB9B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C3D9CB-FC0E-3DD8-40D0-E6906CE9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916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90C27-32E1-86E7-CB35-2BBE59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F6A6E0-788D-44B7-DA77-25DD96031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D7EF6E-96ED-8CAB-85B9-BA6B0A3A6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10AAD3-1146-7CEF-4BB9-30FD576D4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29CBCD-01CF-5229-7EEA-DF7ED160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146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B72F69-2847-895C-2B35-0A8EEAE09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92B322A-7B2B-ED55-62DD-C44DDC3BE2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ED46DB-0AC4-1E1F-DF12-016241E0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B918BA-3C70-8DAF-0634-83F05312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C1E769-E47D-29AE-FBA7-336A56B6A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96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4AD33-43F7-CD41-0246-7272C88EE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77AB35-48EC-768B-949A-42C1D9DD5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D4A345-B3C6-222A-ED6E-FB178EE74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C8380D-31DC-4C0B-9964-1AD330E91726}" type="datetimeFigureOut">
              <a:rPr lang="ru-RU" smtClean="0"/>
              <a:t>27.05.2026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A1E1C9-1045-A0C6-4C85-D35A0DDB4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CD4939-A796-79AB-DDF7-87CC5016A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03DD1-5C50-49E1-A795-28F5B148B7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68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/>
          <p:cNvGrpSpPr/>
          <p:nvPr/>
        </p:nvGrpSpPr>
        <p:grpSpPr>
          <a:xfrm>
            <a:off x="436881" y="98799"/>
            <a:ext cx="2814319" cy="946314"/>
            <a:chOff x="535775" y="87356"/>
            <a:chExt cx="4655985" cy="1565573"/>
          </a:xfrm>
        </p:grpSpPr>
        <p:pic>
          <p:nvPicPr>
            <p:cNvPr id="2" name="Рисунок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775" y="409326"/>
              <a:ext cx="2100661" cy="921634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6436" y="87356"/>
              <a:ext cx="2555324" cy="1565573"/>
            </a:xfrm>
            <a:prstGeom prst="rect">
              <a:avLst/>
            </a:prstGeom>
          </p:spPr>
        </p:pic>
      </p:grpSp>
      <p:sp>
        <p:nvSpPr>
          <p:cNvPr id="4" name="TextBox 3"/>
          <p:cNvSpPr txBox="1"/>
          <p:nvPr/>
        </p:nvSpPr>
        <p:spPr>
          <a:xfrm>
            <a:off x="2367280" y="828811"/>
            <a:ext cx="77012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«РОССИЙСКАЯ АКАДЕМИЯ НАРОДНОГО ХОЗЯЙСТВА и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ГОСУДАРСТВЕННОЙ СЛУЖБЫ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ПРЕЗИДЕНТЕ РОССИЙСКОЙ ФЕДЕРАЦИИ»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ЭКОНОМИКИ, МАТЕМАТИКИ И ИНФОРМАЦИОННЫХ ТЕХНОЛОГИЙ</a:t>
            </a:r>
          </a:p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ИНФОРМАЦИОННЫХ ТЕХНОЛОГИЙ И АНАЛИЗА ДАННЫХ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95830" y="2563630"/>
            <a:ext cx="19253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ОБ-230766-22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28080" y="2567690"/>
            <a:ext cx="384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«Системного анализа и информатики»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40" y="2987612"/>
            <a:ext cx="4480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09.03.03 Прикладная информатика</a:t>
            </a:r>
          </a:p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Квалификация: бакалавр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436881" y="3708616"/>
            <a:ext cx="11196320" cy="1258976"/>
          </a:xfrm>
          <a:prstGeom prst="rect">
            <a:avLst/>
          </a:prstGeom>
          <a:ln w="28575">
            <a:solidFill>
              <a:srgbClr val="80121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8801" y="3816280"/>
            <a:ext cx="1085088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ДИПЛОМНЫЙ ПРОЕКТ</a:t>
            </a:r>
          </a:p>
          <a:p>
            <a:pPr algn="ctr"/>
            <a:endParaRPr lang="ru-RU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 «Автоматизация комплекса задач по обработке заказов на основе ИИ-агента для ООО “Читай-город” с использованием СУБД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ЯП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2641" y="5123471"/>
            <a:ext cx="448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Студент-дипломник: Грабовец Данила Сергеевич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проекта: Егорова Лариса Ивановна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Консультант: Богомольная Галина Владимировна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Зав. кафедрой: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Маруев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Сергей Александрович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6840" y="6368950"/>
            <a:ext cx="4480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2026 г.</a:t>
            </a:r>
          </a:p>
        </p:txBody>
      </p:sp>
    </p:spTree>
    <p:extLst>
      <p:ext uri="{BB962C8B-B14F-4D97-AF65-F5344CB8AC3E}">
        <p14:creationId xmlns:p14="http://schemas.microsoft.com/office/powerpoint/2010/main" val="3348818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6415" y="3055281"/>
            <a:ext cx="137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415" y="3721323"/>
            <a:ext cx="1315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70648" y="6307574"/>
            <a:ext cx="32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79B98A-FE7B-2E1E-8BFF-FA746B1027F6}"/>
              </a:ext>
            </a:extLst>
          </p:cNvPr>
          <p:cNvSpPr txBox="1"/>
          <p:nvPr/>
        </p:nvSpPr>
        <p:spPr>
          <a:xfrm>
            <a:off x="116415" y="248243"/>
            <a:ext cx="1371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D0D117-4A9C-655F-41DC-FC339370581C}"/>
              </a:ext>
            </a:extLst>
          </p:cNvPr>
          <p:cNvSpPr txBox="1"/>
          <p:nvPr/>
        </p:nvSpPr>
        <p:spPr>
          <a:xfrm>
            <a:off x="338665" y="617575"/>
            <a:ext cx="10088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роцесс обработки обращений клиентов интернет-магазина на начальном этапе взаимодействия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C7E8F-D26A-6D4F-41B8-57F79367C47E}"/>
              </a:ext>
            </a:extLst>
          </p:cNvPr>
          <p:cNvSpPr txBox="1"/>
          <p:nvPr/>
        </p:nvSpPr>
        <p:spPr>
          <a:xfrm>
            <a:off x="116415" y="1202350"/>
            <a:ext cx="1420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A853B-6F7D-2512-02F7-348648601E11}"/>
              </a:ext>
            </a:extLst>
          </p:cNvPr>
          <p:cNvSpPr txBox="1"/>
          <p:nvPr/>
        </p:nvSpPr>
        <p:spPr>
          <a:xfrm>
            <a:off x="338665" y="1566149"/>
            <a:ext cx="115612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Методы, модели и инструменты автоматизации первичного диалога и маршрутизации обращений на основе текстового ИИ-агента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DB453-FCB3-B11A-02D8-0698636D742C}"/>
              </a:ext>
            </a:extLst>
          </p:cNvPr>
          <p:cNvSpPr txBox="1"/>
          <p:nvPr/>
        </p:nvSpPr>
        <p:spPr>
          <a:xfrm>
            <a:off x="321692" y="3419080"/>
            <a:ext cx="5084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проекта текстового ИИ-агента первой линии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CA6F5-04C5-E0FE-85DE-E04E30A3AB01}"/>
              </a:ext>
            </a:extLst>
          </p:cNvPr>
          <p:cNvSpPr txBox="1"/>
          <p:nvPr/>
        </p:nvSpPr>
        <p:spPr>
          <a:xfrm>
            <a:off x="344466" y="4072288"/>
            <a:ext cx="90403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Провести системный анализ и сформировать модель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AS-IS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рассматриваемого процесса.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C99B66-B9F1-1D60-3C6F-50028B2F2AB2}"/>
              </a:ext>
            </a:extLst>
          </p:cNvPr>
          <p:cNvSpPr txBox="1"/>
          <p:nvPr/>
        </p:nvSpPr>
        <p:spPr>
          <a:xfrm>
            <a:off x="344466" y="4363952"/>
            <a:ext cx="104759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Сформулировать экономическую сущность задачи и выполнить постановку задачи к проектируемому ИИ-агенту.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819CD1-17EF-C398-C219-B75A7077A8E6}"/>
              </a:ext>
            </a:extLst>
          </p:cNvPr>
          <p:cNvSpPr txBox="1"/>
          <p:nvPr/>
        </p:nvSpPr>
        <p:spPr>
          <a:xfrm>
            <a:off x="338664" y="4670673"/>
            <a:ext cx="100880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Проанализировать существующие программные решения и обосновать выбор технологии проектирования.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7DDB5B-E8AA-EF4F-85C4-5AEFFB3E5B83}"/>
              </a:ext>
            </a:extLst>
          </p:cNvPr>
          <p:cNvSpPr txBox="1"/>
          <p:nvPr/>
        </p:nvSpPr>
        <p:spPr>
          <a:xfrm>
            <a:off x="340194" y="4956889"/>
            <a:ext cx="9102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Разработать архитектуру информационной системы с интеграцией в ИТ-ландшафт компании.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C8948A-167E-1D97-4D59-79B21C9AD48F}"/>
              </a:ext>
            </a:extLst>
          </p:cNvPr>
          <p:cNvSpPr txBox="1"/>
          <p:nvPr/>
        </p:nvSpPr>
        <p:spPr>
          <a:xfrm>
            <a:off x="344467" y="5247855"/>
            <a:ext cx="96694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Спроектировать информационное обеспечение (инфологическая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даталогическая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модели данных).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22F762-B220-1689-E8E1-14E501061848}"/>
              </a:ext>
            </a:extLst>
          </p:cNvPr>
          <p:cNvSpPr txBox="1"/>
          <p:nvPr/>
        </p:nvSpPr>
        <p:spPr>
          <a:xfrm>
            <a:off x="344467" y="5538550"/>
            <a:ext cx="8240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Разработать макет административного интерфейса для сопровождения ИИ-агента.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C4D444-BEF9-8810-4AA3-B21F9800FA68}"/>
              </a:ext>
            </a:extLst>
          </p:cNvPr>
          <p:cNvSpPr txBox="1"/>
          <p:nvPr/>
        </p:nvSpPr>
        <p:spPr>
          <a:xfrm>
            <a:off x="344466" y="5840792"/>
            <a:ext cx="7364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Выполнить расчёт и обоснование экономической эффективности проекта.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415A149-6679-B160-3252-CF28097DCCF0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1BE9A-38C2-1DEE-23FA-F692ECCCE30F}"/>
              </a:ext>
            </a:extLst>
          </p:cNvPr>
          <p:cNvSpPr txBox="1"/>
          <p:nvPr/>
        </p:nvSpPr>
        <p:spPr>
          <a:xfrm>
            <a:off x="116415" y="2155001"/>
            <a:ext cx="223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CF230D-5BF1-70AD-FCA1-83549FB23D70}"/>
              </a:ext>
            </a:extLst>
          </p:cNvPr>
          <p:cNvSpPr txBox="1"/>
          <p:nvPr/>
        </p:nvSpPr>
        <p:spPr>
          <a:xfrm>
            <a:off x="338665" y="2476349"/>
            <a:ext cx="1161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данной работы обусловлена необходимостью поиска эффективных инструментов автоматизации первичного этапа взаимодействия с клиентом.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207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47FE-BF60-081C-6E6F-6282921E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2CE7205-F156-D673-CDA9-9877E38CDC19}"/>
              </a:ext>
            </a:extLst>
          </p:cNvPr>
          <p:cNvSpPr txBox="1"/>
          <p:nvPr/>
        </p:nvSpPr>
        <p:spPr>
          <a:xfrm>
            <a:off x="148165" y="1378189"/>
            <a:ext cx="221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ОКП: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BE928E-A08E-A957-6806-354EEF80B332}"/>
              </a:ext>
            </a:extLst>
          </p:cNvPr>
          <p:cNvSpPr txBox="1"/>
          <p:nvPr/>
        </p:nvSpPr>
        <p:spPr>
          <a:xfrm>
            <a:off x="11670648" y="6307574"/>
            <a:ext cx="32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77CD3-4B31-FE7E-655F-B2E8D079CA9F}"/>
              </a:ext>
            </a:extLst>
          </p:cNvPr>
          <p:cNvSpPr txBox="1"/>
          <p:nvPr/>
        </p:nvSpPr>
        <p:spPr>
          <a:xfrm>
            <a:off x="148165" y="443462"/>
            <a:ext cx="354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АВТОМАТИЗАЦИИ: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059B1A-5A04-2F44-4748-06A46413DF4D}"/>
              </a:ext>
            </a:extLst>
          </p:cNvPr>
          <p:cNvSpPr txBox="1"/>
          <p:nvPr/>
        </p:nvSpPr>
        <p:spPr>
          <a:xfrm>
            <a:off x="370415" y="812794"/>
            <a:ext cx="7179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 клиентской поддержки (ОКП) ООО «Читай-город»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A3CF04-A8DC-7336-D7EA-0F057A8BDEA7}"/>
              </a:ext>
            </a:extLst>
          </p:cNvPr>
          <p:cNvSpPr txBox="1"/>
          <p:nvPr/>
        </p:nvSpPr>
        <p:spPr>
          <a:xfrm>
            <a:off x="370415" y="1747521"/>
            <a:ext cx="51731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Начальник ОКП — управление отделом, контроль KPI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B67654-8C6E-7B01-27DA-7DDEFEDEC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9881" y="1223084"/>
            <a:ext cx="2962732" cy="404107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212F3D-8D03-F010-FD81-E63032D5662B}"/>
              </a:ext>
            </a:extLst>
          </p:cNvPr>
          <p:cNvSpPr txBox="1"/>
          <p:nvPr/>
        </p:nvSpPr>
        <p:spPr>
          <a:xfrm>
            <a:off x="370415" y="2086075"/>
            <a:ext cx="6830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Старший оператор — наставничество, контроль качества, сложные кейсы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D0B93-5BE0-0325-7911-E86DE8718B08}"/>
              </a:ext>
            </a:extLst>
          </p:cNvPr>
          <p:cNvSpPr txBox="1"/>
          <p:nvPr/>
        </p:nvSpPr>
        <p:spPr>
          <a:xfrm>
            <a:off x="370414" y="2424629"/>
            <a:ext cx="68304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Операторы ОКП — первичный контакт с клиентом по всем каналам связи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192490-4073-59CA-9CAE-526CABECE87A}"/>
              </a:ext>
            </a:extLst>
          </p:cNvPr>
          <p:cNvSpPr txBox="1"/>
          <p:nvPr/>
        </p:nvSpPr>
        <p:spPr>
          <a:xfrm>
            <a:off x="148165" y="3082357"/>
            <a:ext cx="221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 ОКП: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5702DD-233D-4A96-9D89-DC02A593ABC8}"/>
              </a:ext>
            </a:extLst>
          </p:cNvPr>
          <p:cNvSpPr txBox="1"/>
          <p:nvPr/>
        </p:nvSpPr>
        <p:spPr>
          <a:xfrm>
            <a:off x="370413" y="3443269"/>
            <a:ext cx="8271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Консультирование;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 с заказами;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Возвраты и претензии;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Лояльность и сертификаты;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Личный кабинет и цифровые сервисы.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7C3D1C-3C50-56BE-850B-79D14B5ABCCA}"/>
              </a:ext>
            </a:extLst>
          </p:cNvPr>
          <p:cNvSpPr txBox="1"/>
          <p:nvPr/>
        </p:nvSpPr>
        <p:spPr>
          <a:xfrm>
            <a:off x="148165" y="5105700"/>
            <a:ext cx="2569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И РЕЗУЛЬТАТ: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2B56AD-BCE0-3C1C-C8DE-67703959E950}"/>
              </a:ext>
            </a:extLst>
          </p:cNvPr>
          <p:cNvSpPr txBox="1"/>
          <p:nvPr/>
        </p:nvSpPr>
        <p:spPr>
          <a:xfrm>
            <a:off x="370414" y="5422626"/>
            <a:ext cx="8424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оперативное и качественное решение запросов, высокий уровень сервиса, сохранение лояльности</a:t>
            </a:r>
          </a:p>
          <a:p>
            <a:pPr>
              <a:tabLst>
                <a:tab pos="630555" algn="l"/>
              </a:tabLst>
            </a:pP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закрытое обращение, зафиксированное в CRM-системе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920EB6-2965-2AED-02C9-C31423B854C4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45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5FE7-C982-1A00-2683-A7D7379C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EAE886F-640A-EF9D-ACF3-42CA05CA87BC}"/>
              </a:ext>
            </a:extLst>
          </p:cNvPr>
          <p:cNvSpPr txBox="1"/>
          <p:nvPr/>
        </p:nvSpPr>
        <p:spPr>
          <a:xfrm>
            <a:off x="11670648" y="6307574"/>
            <a:ext cx="32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6AEC0-6B5E-F9CF-6E6D-EE004D88D285}"/>
              </a:ext>
            </a:extLst>
          </p:cNvPr>
          <p:cNvSpPr txBox="1"/>
          <p:nvPr/>
        </p:nvSpPr>
        <p:spPr>
          <a:xfrm>
            <a:off x="129115" y="433228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ПРОБЛЕМЫ СУЩЕСТВУЮЩЕЙ ТЕХНОЛОГИИ (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AS-IS)</a:t>
            </a:r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C2774B-13FE-753D-C363-849B14DE985B}"/>
              </a:ext>
            </a:extLst>
          </p:cNvPr>
          <p:cNvSpPr txBox="1"/>
          <p:nvPr/>
        </p:nvSpPr>
        <p:spPr>
          <a:xfrm>
            <a:off x="351365" y="802560"/>
            <a:ext cx="717973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ручная первичная обработка текстовых обращений операторами ОКП;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трудоёмкость: ~27 495 ч/год; среднее время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8 минут на обращение;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Ручная классификация тематики и субъективная маршрутизация;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Последовательная обработка диалогов; </a:t>
            </a:r>
          </a:p>
          <a:p>
            <a:pPr marL="285750" indent="-285750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масштабируемость при росте потока, неравномерная нагрузка; высокая доля рутинных операций.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6337D-0951-A57E-C336-084A99431A60}"/>
              </a:ext>
            </a:extLst>
          </p:cNvPr>
          <p:cNvSpPr txBox="1"/>
          <p:nvPr/>
        </p:nvSpPr>
        <p:spPr>
          <a:xfrm>
            <a:off x="6316967" y="3769340"/>
            <a:ext cx="551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ПРОЕКТИРУЕМОГО РЕШЕНИЯ (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TO-BE)</a:t>
            </a:r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351BA-0A8A-9E9F-75B8-45945AC4D813}"/>
              </a:ext>
            </a:extLst>
          </p:cNvPr>
          <p:cNvSpPr txBox="1"/>
          <p:nvPr/>
        </p:nvSpPr>
        <p:spPr>
          <a:xfrm>
            <a:off x="4119867" y="4219213"/>
            <a:ext cx="77131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обработки до 5–6 мин и снижение трудоёмкости не менее чем на 25%;</a:t>
            </a:r>
          </a:p>
          <a:p>
            <a:pPr marL="285750" indent="-285750" algn="r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классификация обращений и подбор регламентов (RAG) на базе утверждённой базы знаний;</a:t>
            </a:r>
          </a:p>
          <a:p>
            <a:pPr marL="285750" indent="-285750" algn="r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Параллельная обработка текстовых обращений ИИ-агентом первой линии;</a:t>
            </a:r>
          </a:p>
          <a:p>
            <a:pPr marL="285750" indent="-285750" algn="r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Передача оператору сложных, операционных и нестандартных кейсов;</a:t>
            </a:r>
          </a:p>
          <a:p>
            <a:pPr marL="285750" indent="-285750" algn="r">
              <a:buFont typeface="Wingdings" panose="05000000000000000000" pitchFamily="2" charset="2"/>
              <a:buChar char="§"/>
              <a:tabLst>
                <a:tab pos="630555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автономных изменений в ERP/CRM.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698C831-4884-8E80-8DF7-1D1A27705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055" y="617894"/>
            <a:ext cx="2062103" cy="206210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4DDF5C0-DCED-15A9-9E5A-3389819C7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92" y="3954006"/>
            <a:ext cx="2062800" cy="20628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DEE52BC-C66A-57EA-1CBD-806C816114AD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B2AEA-F0E7-C19C-40AF-CF718774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64C87D-0C44-84D4-C1E3-92A9D329834A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AS-IS (IDEF0, уровень A0)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B34E976-165D-E4C0-61DD-A56D61B3C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516" y="814387"/>
            <a:ext cx="10026968" cy="554637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26D9E50-D942-E7FC-3445-BD2431F47C7C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26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D6E4-C0E9-FDFB-C59F-C3E5FD93D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B116AE-12EE-4FD9-E197-3021664B7491}"/>
              </a:ext>
            </a:extLst>
          </p:cNvPr>
          <p:cNvSpPr txBox="1"/>
          <p:nvPr/>
        </p:nvSpPr>
        <p:spPr>
          <a:xfrm>
            <a:off x="2842681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AS-IS (IDEF0, декомпозиция уровня A0)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A1A3518-4246-2FDE-3E2C-938B3F0C75BE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A06C78E-9C13-15DC-0546-23D3F6C1F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143" y="410607"/>
            <a:ext cx="7085714" cy="622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98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B790-3367-C776-3FC4-09AA0CF68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48EA07-E188-A720-726E-F0E1E73ECF12}"/>
              </a:ext>
            </a:extLst>
          </p:cNvPr>
          <p:cNvSpPr txBox="1"/>
          <p:nvPr/>
        </p:nvSpPr>
        <p:spPr>
          <a:xfrm>
            <a:off x="2842679" y="82550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TO-BE (IDEF0, уровень A0)</a:t>
            </a:r>
            <a:endParaRPr lang="ru-RU" b="1" dirty="0">
              <a:solidFill>
                <a:srgbClr val="8012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72362D-D0D6-0064-3161-957E3136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49" y="694214"/>
            <a:ext cx="10596093" cy="583993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1F207D3-92DF-FC16-19DA-56FD77E4A1AD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051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F0F88-175C-18BA-E9FA-C66B255A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8F7F95-7AD6-2479-C569-657FD1960EE2}"/>
              </a:ext>
            </a:extLst>
          </p:cNvPr>
          <p:cNvSpPr txBox="1"/>
          <p:nvPr/>
        </p:nvSpPr>
        <p:spPr>
          <a:xfrm>
            <a:off x="2842682" y="62389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TO-BE</a:t>
            </a:r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(IDEF0, декомпозиция уровня A0)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A233916-67AE-2F8B-D1DD-1806C23CC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32" y="494110"/>
            <a:ext cx="10118536" cy="6301501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ACBD487-41C8-1FFF-3A75-3A944BE40928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426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0204E-0D77-42EA-4DA0-D0104EC3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79201-5402-7CA4-69FD-ABC183BEC2A8}"/>
              </a:ext>
            </a:extLst>
          </p:cNvPr>
          <p:cNvSpPr txBox="1"/>
          <p:nvPr/>
        </p:nvSpPr>
        <p:spPr>
          <a:xfrm>
            <a:off x="2842682" y="178832"/>
            <a:ext cx="6506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Выбранный</a:t>
            </a:r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программно-технологический стек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BCD8C-3F10-C818-FF62-C1D2125C6D90}"/>
              </a:ext>
            </a:extLst>
          </p:cNvPr>
          <p:cNvSpPr txBox="1"/>
          <p:nvPr/>
        </p:nvSpPr>
        <p:spPr>
          <a:xfrm>
            <a:off x="198965" y="1156792"/>
            <a:ext cx="221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Язык и платформа: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D30C3-4AAA-2933-2A1A-DCCDC55CA2FE}"/>
              </a:ext>
            </a:extLst>
          </p:cNvPr>
          <p:cNvSpPr txBox="1"/>
          <p:nvPr/>
        </p:nvSpPr>
        <p:spPr>
          <a:xfrm>
            <a:off x="394214" y="1526124"/>
            <a:ext cx="40491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3.12, Linux, Docker / Docker Compose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0BD3C-DB85-C8C9-7936-4A180AF5C5F5}"/>
              </a:ext>
            </a:extLst>
          </p:cNvPr>
          <p:cNvSpPr txBox="1"/>
          <p:nvPr/>
        </p:nvSpPr>
        <p:spPr>
          <a:xfrm>
            <a:off x="198965" y="1864678"/>
            <a:ext cx="221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Веб-сервис: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D92289-5BEB-FC5A-734F-5D6F6DF8BF79}"/>
              </a:ext>
            </a:extLst>
          </p:cNvPr>
          <p:cNvSpPr txBox="1"/>
          <p:nvPr/>
        </p:nvSpPr>
        <p:spPr>
          <a:xfrm>
            <a:off x="394214" y="2234010"/>
            <a:ext cx="2219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FastAPI, Pydantic, httpx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FFCBE-17DA-31B5-D94D-5305EBF7941B}"/>
              </a:ext>
            </a:extLst>
          </p:cNvPr>
          <p:cNvSpPr txBox="1"/>
          <p:nvPr/>
        </p:nvSpPr>
        <p:spPr>
          <a:xfrm>
            <a:off x="198964" y="2572564"/>
            <a:ext cx="5382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Искусственный интеллект и машинное обучение: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C2C30-86CF-99D8-A196-DA6B4C818B6C}"/>
              </a:ext>
            </a:extLst>
          </p:cNvPr>
          <p:cNvSpPr txBox="1"/>
          <p:nvPr/>
        </p:nvSpPr>
        <p:spPr>
          <a:xfrm>
            <a:off x="394213" y="2941896"/>
            <a:ext cx="5701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LangChain, ChromaDB, LLM Gateway (GigaChat / Yandex GPT)</a:t>
            </a:r>
          </a:p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CatBoost, scikit-learn, PyTorch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3F3208-05CC-D74F-1E16-4515BBB0713E}"/>
              </a:ext>
            </a:extLst>
          </p:cNvPr>
          <p:cNvSpPr txBox="1"/>
          <p:nvPr/>
        </p:nvSpPr>
        <p:spPr>
          <a:xfrm>
            <a:off x="198964" y="3526671"/>
            <a:ext cx="2219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241B07-A807-7CB5-1F67-10F8E3A05BD8}"/>
              </a:ext>
            </a:extLst>
          </p:cNvPr>
          <p:cNvSpPr txBox="1"/>
          <p:nvPr/>
        </p:nvSpPr>
        <p:spPr>
          <a:xfrm>
            <a:off x="394213" y="3896003"/>
            <a:ext cx="387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PostgreSQL, ClickHouse, ChromaDB, Redis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4083AB-0CD5-176C-A33C-3C448E7AA797}"/>
              </a:ext>
            </a:extLst>
          </p:cNvPr>
          <p:cNvSpPr txBox="1"/>
          <p:nvPr/>
        </p:nvSpPr>
        <p:spPr>
          <a:xfrm>
            <a:off x="198964" y="4265335"/>
            <a:ext cx="304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Интеграции и мониторинг: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31FF1F-D11C-311A-85D6-8D8DE6BC0949}"/>
              </a:ext>
            </a:extLst>
          </p:cNvPr>
          <p:cNvSpPr txBox="1"/>
          <p:nvPr/>
        </p:nvSpPr>
        <p:spPr>
          <a:xfrm>
            <a:off x="394213" y="4634667"/>
            <a:ext cx="4387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CRM </a:t>
            </a:r>
            <a:r>
              <a:rPr lang="en-US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UseDesk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база знаний </a:t>
            </a: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Eva, Grafana, loguru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35D62E-86C2-0276-0EB6-8329408A4E2C}"/>
              </a:ext>
            </a:extLst>
          </p:cNvPr>
          <p:cNvSpPr txBox="1"/>
          <p:nvPr/>
        </p:nvSpPr>
        <p:spPr>
          <a:xfrm>
            <a:off x="198964" y="4973221"/>
            <a:ext cx="3045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30E427-1FFA-CE3F-8F0F-8BE7B91C6A13}"/>
              </a:ext>
            </a:extLst>
          </p:cNvPr>
          <p:cNvSpPr txBox="1"/>
          <p:nvPr/>
        </p:nvSpPr>
        <p:spPr>
          <a:xfrm>
            <a:off x="394213" y="5342553"/>
            <a:ext cx="1402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630555" algn="l"/>
              </a:tabLst>
            </a:pPr>
            <a:r>
              <a:rPr lang="en-US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Git, GitLab CI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A8AC0C9-3EAD-A111-17FC-93D2A7749EE2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189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13E9-C8A0-11A2-F8B0-2FEDB7CE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E867FA-DEE2-25E7-BCFE-655FA4E080C6}"/>
              </a:ext>
            </a:extLst>
          </p:cNvPr>
          <p:cNvSpPr txBox="1"/>
          <p:nvPr/>
        </p:nvSpPr>
        <p:spPr>
          <a:xfrm>
            <a:off x="2842681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B2FC7C-C77F-05F1-4B71-4466B2D49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3404" y="410607"/>
            <a:ext cx="7165192" cy="633944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F3BC0E6-7D53-F763-4FCB-8F30254D946D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2634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DE37-8AF7-8DB5-2CCE-DE0D1579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386244-A847-2AF2-EB74-2EFAE4C40EE8}"/>
              </a:ext>
            </a:extLst>
          </p:cNvPr>
          <p:cNvSpPr txBox="1"/>
          <p:nvPr/>
        </p:nvSpPr>
        <p:spPr>
          <a:xfrm>
            <a:off x="2842682" y="49689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7A90F9-9669-3A25-CFC3-2C637D022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5" y="468710"/>
            <a:ext cx="12024329" cy="622419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E202C4B-EECB-7F32-F7DA-028817FA4B2E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059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85A53-C523-B483-F048-354EBFCDA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136F9CB-741C-A5FE-72E8-BEE87928F368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7EA7F-80FC-3DC4-D182-158208E5952A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(№1)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1BCA34-FC87-9A35-3573-5617D313B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8" y="451882"/>
            <a:ext cx="11744363" cy="603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35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B8536-51C1-25D8-C949-CBFA91D82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FF0EE3-F58B-0CA1-B8FF-494630033D75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(№2)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1255E7-2F5A-1615-987F-12ED9910B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97" y="451882"/>
            <a:ext cx="11942006" cy="612568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57BF38E-6031-CC94-B877-6583879D0927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958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DB9B-2163-2CD9-B61B-C9F321463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8AEE8F-43FA-B7E4-93EC-3DE31E2C5CBE}"/>
              </a:ext>
            </a:extLst>
          </p:cNvPr>
          <p:cNvSpPr txBox="1"/>
          <p:nvPr/>
        </p:nvSpPr>
        <p:spPr>
          <a:xfrm>
            <a:off x="2842681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(№3)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BBE4A6F-EE00-BAA8-1711-8E8B67777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15" y="545854"/>
            <a:ext cx="11749568" cy="603425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96CABE-2C09-8CD5-EE59-AF673A1FD52D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60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534C4-B67A-9F32-8DB8-3F5BA65BA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EA5EA4-6A0B-7510-2F72-F816F1022168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деятельности (№4)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C0508-1ADB-EC9B-12D8-717DBE8E4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1" y="410607"/>
            <a:ext cx="12150878" cy="6237843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B1D69E1-AF5E-BBB7-5706-D4D5708E4C2A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109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A365-25A2-CD49-EB25-44EC177A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97B52A-89E4-2916-28E8-7092AADFAA79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(№1)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528ECFB-8D1B-6DBD-9DC3-56F6FBB1EEE7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759820-4CA4-6627-ED0F-BB6E101CB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694" y="410607"/>
            <a:ext cx="7710610" cy="629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21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2A18-F0B2-4386-07AA-E6291436F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FC536-4F2B-E2F9-05C8-AD9A420637DB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 (№2)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301291-19B6-91AF-EF62-3FA41ED76918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CBDBEDF-9025-2861-912E-AF210B639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646" y="399120"/>
            <a:ext cx="8708708" cy="6417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94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0BDA2-9028-CE8E-1FD1-DD18A45D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61B1A2-1894-9C00-0DBA-3C424778AD05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коммуникации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5A054A0-79A6-19D0-DA42-AB090F543DEB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C05B15F-F285-80AB-026B-96C7AFC1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52" y="493157"/>
            <a:ext cx="11857295" cy="609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26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4ADFA-45E9-93CE-9518-208B205D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AD5084-B1F3-D0DF-3A08-8EA5A3BC28AF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состояний сервиса обработки сообщений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7BA9121-A85B-3676-553F-07CD2237C36B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B2C93C9-18AE-B8A5-93AE-344317539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056" y="386080"/>
            <a:ext cx="4977886" cy="64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10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7620-1C3C-3371-3C01-B8A607D7B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92E94C-45D0-A037-2AA3-0F2208820E14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развёртывания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5D9C10C-0D1F-3C44-7A3D-40DB7CDC28EA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E175F5-5E08-50AB-5613-D0190B846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996" y="356583"/>
            <a:ext cx="9204008" cy="65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73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90AA-5AE0-9DBC-CC25-770F4E0C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CBC58D-8F41-335D-AA02-EEC8D0FD2AD1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Логическая модель данных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58C2830-B53E-46F5-C934-3F7AAB7D5E70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3D0E9F-05B4-DE33-6B28-FBBDAE5EE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5" y="918606"/>
            <a:ext cx="12107549" cy="49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311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195C-7978-6A43-FC0A-E43FC238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BDFD18-AE12-0D30-6C91-1DE7D3B7E8E9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Даталогическая модель 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ru-RU" b="1" dirty="0">
              <a:solidFill>
                <a:srgbClr val="8012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B232284-EF47-E9CB-6AAF-18E14558D2C3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630EC9-32C1-323E-2D82-1F096A6B9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398" y="451882"/>
            <a:ext cx="9669203" cy="626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998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666F8-27C3-C20D-D057-9C8C67388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A9D937-813A-4672-3A5B-10C16257E47B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Даталогическая модель 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ClickHouse</a:t>
            </a:r>
            <a:endParaRPr lang="ru-RU" b="1" dirty="0">
              <a:solidFill>
                <a:srgbClr val="8012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3028E8-1C89-C9E4-CE5C-E427997CFB7A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05C9E7-FF8E-4E12-6957-7E35E930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83" y="1809750"/>
            <a:ext cx="11356433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68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8F134-EF2D-308D-8341-6FB4814B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AC7F76-CFEB-5AD9-AB51-EC3F18D84986}"/>
              </a:ext>
            </a:extLst>
          </p:cNvPr>
          <p:cNvSpPr txBox="1"/>
          <p:nvPr/>
        </p:nvSpPr>
        <p:spPr>
          <a:xfrm>
            <a:off x="2842680" y="240783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и мониторинг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53BCB77-4499-00BD-5E74-BDD6FC17DD36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7E3720F-A816-6AA0-4202-171DFEC7D3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17" y="737870"/>
            <a:ext cx="11125365" cy="5725159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0DE2FFE-965D-B50D-CA9E-5CFC723E5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501" y="1316170"/>
            <a:ext cx="3476998" cy="39444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21CBF7-05F3-79FD-2417-2CE8996EB069}"/>
              </a:ext>
            </a:extLst>
          </p:cNvPr>
          <p:cNvSpPr txBox="1"/>
          <p:nvPr/>
        </p:nvSpPr>
        <p:spPr>
          <a:xfrm>
            <a:off x="2474593" y="-5139"/>
            <a:ext cx="7242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Макет административной панели</a:t>
            </a:r>
          </a:p>
        </p:txBody>
      </p:sp>
    </p:spTree>
    <p:extLst>
      <p:ext uri="{BB962C8B-B14F-4D97-AF65-F5344CB8AC3E}">
        <p14:creationId xmlns:p14="http://schemas.microsoft.com/office/powerpoint/2010/main" val="378291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CD05-ABB2-AE0E-12FF-51005E3BB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22095F-3CAE-F147-51A7-566DCA5BBAE9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классификации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3B51BA6-6A54-2DEB-F692-018B4CCDC6B5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C2307F1-1F25-B549-9D64-3A36FCC148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8438" y="432037"/>
            <a:ext cx="9235123" cy="6383317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CF5680-BFD1-5F0F-EA16-5875459AC4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62" y="1508230"/>
            <a:ext cx="11886475" cy="4228783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</p:spTree>
    <p:extLst>
      <p:ext uri="{BB962C8B-B14F-4D97-AF65-F5344CB8AC3E}">
        <p14:creationId xmlns:p14="http://schemas.microsoft.com/office/powerpoint/2010/main" val="325808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9871-EEA2-419A-7A11-E2B51F464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520D2C-3FE8-74F1-A80A-C1578F717B0E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Маршрутизация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66E829A-AE7C-3D93-CE90-7CBD7A6220A8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8D93501-A1BE-E1B3-B142-DAE3E118B5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529" y="451882"/>
            <a:ext cx="8966941" cy="6286761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8188993-BDE1-7424-D517-A7DCB0180E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24" y="1190942"/>
            <a:ext cx="11288151" cy="4476115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</p:spTree>
    <p:extLst>
      <p:ext uri="{BB962C8B-B14F-4D97-AF65-F5344CB8AC3E}">
        <p14:creationId xmlns:p14="http://schemas.microsoft.com/office/powerpoint/2010/main" val="350286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02EAD-EEEA-6DDA-C4DE-0AA2D04D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089729-2D64-A780-09D5-4D67CC259C7B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</a:t>
            </a:r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ru-RU" b="1" dirty="0">
              <a:solidFill>
                <a:srgbClr val="80121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5AD35D1-545C-349B-C884-A79627CBF7C1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52560DA-064C-24B1-FD23-A93C0AB572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49" y="994701"/>
            <a:ext cx="11692301" cy="5301298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BFC99C-D733-B1FB-80AA-C97A2929A8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5" y="1054060"/>
            <a:ext cx="11724027" cy="5182579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</p:spTree>
    <p:extLst>
      <p:ext uri="{BB962C8B-B14F-4D97-AF65-F5344CB8AC3E}">
        <p14:creationId xmlns:p14="http://schemas.microsoft.com/office/powerpoint/2010/main" val="63782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A724C-3B2D-18A6-0463-A481A2EF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A8FE70-CB68-7E49-1C3C-B3AEAB3BD8AD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Операционный контроль тикетов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1E05587-1BAF-A836-BBA1-01E4C218938E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1645645-7E96-233C-83CA-18707AA11A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48" y="1052251"/>
            <a:ext cx="11922503" cy="4753497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</p:spTree>
    <p:extLst>
      <p:ext uri="{BB962C8B-B14F-4D97-AF65-F5344CB8AC3E}">
        <p14:creationId xmlns:p14="http://schemas.microsoft.com/office/powerpoint/2010/main" val="42525135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0781-E533-30EA-74B0-FA11A3BF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1AD632-B9AD-C94C-ED64-C54D8BEED5B8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Эскалации и аудит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7BC49D4-408A-6559-4361-78663FEEEBEA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4854FD-A52C-1805-4A07-874AF94478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2" y="1119994"/>
            <a:ext cx="11815136" cy="4618012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8E962E-2E48-D6C9-3E1A-C0620CDD2F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351" y="423862"/>
            <a:ext cx="9111298" cy="6308979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</p:spTree>
    <p:extLst>
      <p:ext uri="{BB962C8B-B14F-4D97-AF65-F5344CB8AC3E}">
        <p14:creationId xmlns:p14="http://schemas.microsoft.com/office/powerpoint/2010/main" val="1932921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B99E1-F4C3-6C29-E161-B814FFC00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F75A19-FAFC-2782-C3B4-4DB97F0E8D78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Справка и демо-сценарии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D9F4396-86DE-C97C-2C1A-37151EEE7D7E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DE6ABA-3CC9-80D2-C5E8-BED0F98653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5977" y="369332"/>
            <a:ext cx="8820045" cy="6262970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AF87AF-B473-565D-F0F2-E533792D9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0" y="916093"/>
            <a:ext cx="11230420" cy="5025813"/>
          </a:xfrm>
          <a:prstGeom prst="rect">
            <a:avLst/>
          </a:prstGeom>
          <a:ln>
            <a:solidFill>
              <a:srgbClr val="0065B0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B02F1C-4C50-55D6-3F4E-D03265FA78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99" y="916093"/>
            <a:ext cx="11810600" cy="5025813"/>
          </a:xfrm>
          <a:prstGeom prst="rect">
            <a:avLst/>
          </a:prstGeom>
          <a:noFill/>
          <a:ln>
            <a:solidFill>
              <a:srgbClr val="0065B0"/>
            </a:solidFill>
          </a:ln>
        </p:spPr>
      </p:pic>
    </p:spTree>
    <p:extLst>
      <p:ext uri="{BB962C8B-B14F-4D97-AF65-F5344CB8AC3E}">
        <p14:creationId xmlns:p14="http://schemas.microsoft.com/office/powerpoint/2010/main" val="1740320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4F77-53B2-5912-09BD-5A352123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AD045C-38F0-0E36-E474-EA53C08C29CB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экономический эффект внедрения ИИ-агента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C1C8C2F-6AFE-9608-B55C-1C102A643C55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CD3FD44-6678-91E5-6280-2FF86FBDD05D}"/>
              </a:ext>
            </a:extLst>
          </p:cNvPr>
          <p:cNvGrpSpPr/>
          <p:nvPr/>
        </p:nvGrpSpPr>
        <p:grpSpPr>
          <a:xfrm>
            <a:off x="682373" y="534180"/>
            <a:ext cx="10651147" cy="5898012"/>
            <a:chOff x="741600" y="458760"/>
            <a:chExt cx="10708799" cy="5940479"/>
          </a:xfrm>
        </p:grpSpPr>
        <p:graphicFrame>
          <p:nvGraphicFramePr>
            <p:cNvPr id="14" name="Диаграмма 13">
              <a:extLst>
                <a:ext uri="{FF2B5EF4-FFF2-40B4-BE49-F238E27FC236}">
                  <a16:creationId xmlns:a16="http://schemas.microsoft.com/office/drawing/2014/main" id="{294686D3-80B5-1E4A-0834-4381975C871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19553910"/>
                </p:ext>
              </p:extLst>
            </p:nvPr>
          </p:nvGraphicFramePr>
          <p:xfrm>
            <a:off x="741600" y="458760"/>
            <a:ext cx="10708799" cy="594047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5" name="Прямоугольник: скругленные углы 14">
              <a:extLst>
                <a:ext uri="{FF2B5EF4-FFF2-40B4-BE49-F238E27FC236}">
                  <a16:creationId xmlns:a16="http://schemas.microsoft.com/office/drawing/2014/main" id="{9A3169A3-207B-43D5-8D83-F041E9B47197}"/>
                </a:ext>
              </a:extLst>
            </p:cNvPr>
            <p:cNvSpPr/>
            <p:nvPr/>
          </p:nvSpPr>
          <p:spPr>
            <a:xfrm>
              <a:off x="8080587" y="1449493"/>
              <a:ext cx="3105150" cy="4538133"/>
            </a:xfrm>
            <a:prstGeom prst="roundRect">
              <a:avLst/>
            </a:prstGeom>
            <a:noFill/>
            <a:ln w="158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ru-RU" sz="1100"/>
            </a:p>
          </p:txBody>
        </p: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D083C324-3974-4F89-AB89-F15C45FDE179}"/>
                </a:ext>
              </a:extLst>
            </p:cNvPr>
            <p:cNvSpPr txBox="1"/>
            <p:nvPr/>
          </p:nvSpPr>
          <p:spPr>
            <a:xfrm>
              <a:off x="8351798" y="2028415"/>
              <a:ext cx="2538875" cy="822169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Абсолютное</a:t>
              </a:r>
              <a:r>
                <a:rPr lang="ru-RU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снижение трудовых затрат: </a:t>
              </a:r>
              <a:br>
                <a:rPr lang="en-US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1600" b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6 874 часа</a:t>
              </a:r>
              <a:endPara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Прямая соединительная линия 16">
              <a:extLst>
                <a:ext uri="{FF2B5EF4-FFF2-40B4-BE49-F238E27FC236}">
                  <a16:creationId xmlns:a16="http://schemas.microsoft.com/office/drawing/2014/main" id="{69236421-A653-4331-92D4-675447928398}"/>
                </a:ext>
              </a:extLst>
            </p:cNvPr>
            <p:cNvCxnSpPr>
              <a:cxnSpLocks/>
            </p:cNvCxnSpPr>
            <p:nvPr/>
          </p:nvCxnSpPr>
          <p:spPr>
            <a:xfrm>
              <a:off x="8370147" y="3079028"/>
              <a:ext cx="2520526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9">
              <a:extLst>
                <a:ext uri="{FF2B5EF4-FFF2-40B4-BE49-F238E27FC236}">
                  <a16:creationId xmlns:a16="http://schemas.microsoft.com/office/drawing/2014/main" id="{F9AB953A-E09B-4418-8F2F-2572F5C7E441}"/>
                </a:ext>
              </a:extLst>
            </p:cNvPr>
            <p:cNvSpPr txBox="1"/>
            <p:nvPr/>
          </p:nvSpPr>
          <p:spPr>
            <a:xfrm>
              <a:off x="8351798" y="3307473"/>
              <a:ext cx="2467899" cy="822171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Коэффициент относительного снижения</a:t>
              </a:r>
              <a:r>
                <a:rPr lang="ru-RU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ru-RU" sz="1600" b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25%</a:t>
              </a:r>
              <a:endPara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20">
              <a:extLst>
                <a:ext uri="{FF2B5EF4-FFF2-40B4-BE49-F238E27FC236}">
                  <a16:creationId xmlns:a16="http://schemas.microsoft.com/office/drawing/2014/main" id="{342DCEAB-DA2F-4422-84F1-3E9BB6D54AC4}"/>
                </a:ext>
              </a:extLst>
            </p:cNvPr>
            <p:cNvSpPr txBox="1"/>
            <p:nvPr/>
          </p:nvSpPr>
          <p:spPr>
            <a:xfrm>
              <a:off x="8351797" y="4551481"/>
              <a:ext cx="2467899" cy="834262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Индекс повышения производительности труда</a:t>
              </a:r>
              <a:r>
                <a:rPr lang="ru-RU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ru-RU" sz="1600" b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1,33</a:t>
              </a:r>
              <a:endPara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A98891CF-5C2B-4959-AFA5-DA2B1ED9FA1D}"/>
                </a:ext>
              </a:extLst>
            </p:cNvPr>
            <p:cNvCxnSpPr>
              <a:cxnSpLocks/>
            </p:cNvCxnSpPr>
            <p:nvPr/>
          </p:nvCxnSpPr>
          <p:spPr>
            <a:xfrm>
              <a:off x="8351798" y="4340562"/>
              <a:ext cx="2467899" cy="0"/>
            </a:xfrm>
            <a:prstGeom prst="line">
              <a:avLst/>
            </a:prstGeom>
            <a:ln w="9525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4AE3C6C1-6C33-9204-33C1-10C06193FACE}"/>
              </a:ext>
            </a:extLst>
          </p:cNvPr>
          <p:cNvGrpSpPr/>
          <p:nvPr/>
        </p:nvGrpSpPr>
        <p:grpSpPr>
          <a:xfrm>
            <a:off x="682372" y="534180"/>
            <a:ext cx="10827254" cy="5898012"/>
            <a:chOff x="682373" y="534180"/>
            <a:chExt cx="10827254" cy="5898012"/>
          </a:xfrm>
        </p:grpSpPr>
        <p:graphicFrame>
          <p:nvGraphicFramePr>
            <p:cNvPr id="27" name="Диаграмма 26">
              <a:extLst>
                <a:ext uri="{FF2B5EF4-FFF2-40B4-BE49-F238E27FC236}">
                  <a16:creationId xmlns:a16="http://schemas.microsoft.com/office/drawing/2014/main" id="{5909E53B-5250-B814-A82E-F905A0C5C67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540158539"/>
                </p:ext>
              </p:extLst>
            </p:nvPr>
          </p:nvGraphicFramePr>
          <p:xfrm>
            <a:off x="682373" y="534180"/>
            <a:ext cx="10827254" cy="589801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8" name="Прямоугольник: скругленные углы 27">
              <a:extLst>
                <a:ext uri="{FF2B5EF4-FFF2-40B4-BE49-F238E27FC236}">
                  <a16:creationId xmlns:a16="http://schemas.microsoft.com/office/drawing/2014/main" id="{8FC3DDAB-31D8-4217-AC7D-4521021B84BC}"/>
                </a:ext>
              </a:extLst>
            </p:cNvPr>
            <p:cNvSpPr/>
            <p:nvPr/>
          </p:nvSpPr>
          <p:spPr>
            <a:xfrm>
              <a:off x="7988363" y="1517831"/>
              <a:ext cx="3081919" cy="4505690"/>
            </a:xfrm>
            <a:prstGeom prst="roundRect">
              <a:avLst/>
            </a:prstGeom>
            <a:noFill/>
            <a:ln w="15875">
              <a:solidFill>
                <a:srgbClr val="5A0E1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ru-RU" sz="1100"/>
            </a:p>
          </p:txBody>
        </p:sp>
        <p:sp>
          <p:nvSpPr>
            <p:cNvPr id="29" name="TextBox 24">
              <a:extLst>
                <a:ext uri="{FF2B5EF4-FFF2-40B4-BE49-F238E27FC236}">
                  <a16:creationId xmlns:a16="http://schemas.microsoft.com/office/drawing/2014/main" id="{AD1D5CAC-7868-4C43-BFEA-E20E4E061FDC}"/>
                </a:ext>
              </a:extLst>
            </p:cNvPr>
            <p:cNvSpPr txBox="1"/>
            <p:nvPr/>
          </p:nvSpPr>
          <p:spPr>
            <a:xfrm>
              <a:off x="8251597" y="2025227"/>
              <a:ext cx="2531723" cy="882295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Абсолютное</a:t>
              </a:r>
              <a:r>
                <a:rPr lang="ru-RU" sz="18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снижение стоимостных затрат: </a:t>
              </a:r>
              <a:br>
                <a:rPr lang="ru-RU" sz="18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ru-RU" sz="1800" b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2 800 344 руб.</a:t>
              </a:r>
              <a:endPara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Прямая соединительная линия 29">
              <a:extLst>
                <a:ext uri="{FF2B5EF4-FFF2-40B4-BE49-F238E27FC236}">
                  <a16:creationId xmlns:a16="http://schemas.microsoft.com/office/drawing/2014/main" id="{6BFAB70C-C2AA-407F-A8F1-1074B6913DF7}"/>
                </a:ext>
              </a:extLst>
            </p:cNvPr>
            <p:cNvCxnSpPr>
              <a:cxnSpLocks/>
            </p:cNvCxnSpPr>
            <p:nvPr/>
          </p:nvCxnSpPr>
          <p:spPr>
            <a:xfrm>
              <a:off x="8269851" y="3135716"/>
              <a:ext cx="2506956" cy="0"/>
            </a:xfrm>
            <a:prstGeom prst="line">
              <a:avLst/>
            </a:prstGeom>
            <a:ln w="9525">
              <a:solidFill>
                <a:srgbClr val="5A0E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67482CA6-BE8C-4989-847F-630F58B6254B}"/>
                </a:ext>
              </a:extLst>
            </p:cNvPr>
            <p:cNvSpPr txBox="1"/>
            <p:nvPr/>
          </p:nvSpPr>
          <p:spPr>
            <a:xfrm>
              <a:off x="8251600" y="3363911"/>
              <a:ext cx="2449436" cy="824222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Коэффициент относительного снижения</a:t>
              </a:r>
              <a:r>
                <a:rPr lang="ru-RU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ru-RU" sz="1600" b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19,59%</a:t>
              </a:r>
              <a:endPara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27">
              <a:extLst>
                <a:ext uri="{FF2B5EF4-FFF2-40B4-BE49-F238E27FC236}">
                  <a16:creationId xmlns:a16="http://schemas.microsoft.com/office/drawing/2014/main" id="{8E00DA70-41A2-400E-836A-05112B1B73A9}"/>
                </a:ext>
              </a:extLst>
            </p:cNvPr>
            <p:cNvSpPr txBox="1"/>
            <p:nvPr/>
          </p:nvSpPr>
          <p:spPr>
            <a:xfrm>
              <a:off x="8251598" y="4597642"/>
              <a:ext cx="2461127" cy="824220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Индекс повышения стоимостных затрат</a:t>
              </a:r>
              <a:r>
                <a:rPr lang="ru-RU" sz="16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ru-RU" sz="1600" b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1,24</a:t>
              </a:r>
              <a:endPara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3" name="Прямая соединительная линия 32">
              <a:extLst>
                <a:ext uri="{FF2B5EF4-FFF2-40B4-BE49-F238E27FC236}">
                  <a16:creationId xmlns:a16="http://schemas.microsoft.com/office/drawing/2014/main" id="{B0048D7D-E8EE-46C3-B706-836713830E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1600" y="4388232"/>
              <a:ext cx="2462425" cy="4721"/>
            </a:xfrm>
            <a:prstGeom prst="line">
              <a:avLst/>
            </a:prstGeom>
            <a:ln w="9525">
              <a:solidFill>
                <a:srgbClr val="5A0E1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41236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B20A9-241E-B0A9-3378-F1343B34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69D3FB-D362-4ABA-2D15-AA043A2E793B}"/>
              </a:ext>
            </a:extLst>
          </p:cNvPr>
          <p:cNvSpPr txBox="1"/>
          <p:nvPr/>
        </p:nvSpPr>
        <p:spPr>
          <a:xfrm>
            <a:off x="2842682" y="41275"/>
            <a:ext cx="650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Косвенный экономический эффект от внедрения ИИ-агента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1282305-BD32-5D1E-879A-5661DE6F1E9B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B46DDFF8-8A33-0D6B-5581-62C4BE68AD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9324631"/>
              </p:ext>
            </p:extLst>
          </p:nvPr>
        </p:nvGraphicFramePr>
        <p:xfrm>
          <a:off x="1346173" y="783511"/>
          <a:ext cx="9499654" cy="52909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6666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90B69-C731-6C41-0718-D253F464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A91041-D4DC-82EB-9861-0411CCE1AB45}"/>
              </a:ext>
            </a:extLst>
          </p:cNvPr>
          <p:cNvSpPr txBox="1"/>
          <p:nvPr/>
        </p:nvSpPr>
        <p:spPr>
          <a:xfrm>
            <a:off x="2842682" y="41275"/>
            <a:ext cx="6506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Итоговые показатели инвестиционной эффективности проекта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E671D43-E7CB-09B7-3F8B-F8E3B513EAB6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6E032D4-E4C5-1A73-C4E4-60A9CFFAABE1}"/>
              </a:ext>
            </a:extLst>
          </p:cNvPr>
          <p:cNvGrpSpPr/>
          <p:nvPr/>
        </p:nvGrpSpPr>
        <p:grpSpPr>
          <a:xfrm>
            <a:off x="1319107" y="1274463"/>
            <a:ext cx="9553786" cy="4309073"/>
            <a:chOff x="1501987" y="1134287"/>
            <a:chExt cx="9553786" cy="4309073"/>
          </a:xfrm>
        </p:grpSpPr>
        <p:grpSp>
          <p:nvGrpSpPr>
            <p:cNvPr id="37" name="Группа 36">
              <a:extLst>
                <a:ext uri="{FF2B5EF4-FFF2-40B4-BE49-F238E27FC236}">
                  <a16:creationId xmlns:a16="http://schemas.microsoft.com/office/drawing/2014/main" id="{EA6E777C-5A9B-48E4-3F65-2246F2B25A60}"/>
                </a:ext>
              </a:extLst>
            </p:cNvPr>
            <p:cNvGrpSpPr/>
            <p:nvPr/>
          </p:nvGrpSpPr>
          <p:grpSpPr>
            <a:xfrm>
              <a:off x="1501987" y="1134287"/>
              <a:ext cx="9553786" cy="2294713"/>
              <a:chOff x="1635761" y="728881"/>
              <a:chExt cx="9553786" cy="229471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8F507B0-5716-04CD-B09B-9F77E19539C3}"/>
                      </a:ext>
                    </a:extLst>
                  </p:cNvPr>
                  <p:cNvSpPr txBox="1"/>
                  <p:nvPr/>
                </p:nvSpPr>
                <p:spPr>
                  <a:xfrm>
                    <a:off x="1635761" y="728881"/>
                    <a:ext cx="3410372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Капитальные затраты</a:t>
                    </a:r>
                    <a14:m>
                      <m:oMath xmlns:m="http://schemas.openxmlformats.org/officeDocument/2006/math"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𝑲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𝑷</m:t>
                            </m:r>
                          </m:sub>
                        </m:sSub>
                      </m:oMath>
                    </a14:m>
                    <a:endParaRPr lang="ru-RU" dirty="0">
                      <a:solidFill>
                        <a:srgbClr val="80121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08F507B0-5716-04CD-B09B-9F77E19539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5761" y="728881"/>
                    <a:ext cx="3410372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429"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CF724A-6FC7-8902-3E4E-3CC95BC6854C}"/>
                  </a:ext>
                </a:extLst>
              </p:cNvPr>
              <p:cNvSpPr txBox="1"/>
              <p:nvPr/>
            </p:nvSpPr>
            <p:spPr>
              <a:xfrm>
                <a:off x="2177627" y="1098213"/>
                <a:ext cx="19202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2 151 640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рублей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BA6F2E1-8E45-A180-D9B1-B8FED6A384D5}"/>
                      </a:ext>
                    </a:extLst>
                  </p:cNvPr>
                  <p:cNvSpPr txBox="1"/>
                  <p:nvPr/>
                </p:nvSpPr>
                <p:spPr>
                  <a:xfrm>
                    <a:off x="1635761" y="1467545"/>
                    <a:ext cx="450087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Годовые эксплуатационные затраты</a:t>
                    </a:r>
                    <a14:m>
                      <m:oMath xmlns:m="http://schemas.openxmlformats.org/officeDocument/2006/math"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𝒁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эксп</m:t>
                            </m:r>
                          </m:sub>
                        </m:sSub>
                      </m:oMath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BA6F2E1-8E45-A180-D9B1-B8FED6A384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5761" y="1467545"/>
                    <a:ext cx="450087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083" t="-9836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316D99A-A66E-805D-AF2A-19AF05D4494C}"/>
                  </a:ext>
                </a:extLst>
              </p:cNvPr>
              <p:cNvSpPr txBox="1"/>
              <p:nvPr/>
            </p:nvSpPr>
            <p:spPr>
              <a:xfrm>
                <a:off x="2177627" y="1836877"/>
                <a:ext cx="16763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774 136 рублей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69089CA-29F9-A7C2-B3F1-9F5821F6DDF9}"/>
                      </a:ext>
                    </a:extLst>
                  </p:cNvPr>
                  <p:cNvSpPr txBox="1"/>
                  <p:nvPr/>
                </p:nvSpPr>
                <p:spPr>
                  <a:xfrm>
                    <a:off x="1635761" y="2247484"/>
                    <a:ext cx="305138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Прямой годовой эффект</a:t>
                    </a:r>
                    <a14:m>
                      <m:oMath xmlns:m="http://schemas.openxmlformats.org/officeDocument/2006/math"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1800" b="1" i="1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sz="1800" b="1" i="1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oMath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69089CA-29F9-A7C2-B3F1-9F5821F6DDF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5761" y="2247484"/>
                    <a:ext cx="305138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97" t="-9836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B5B9EF6-B3DB-577C-7971-C80EC4DC6E0E}"/>
                  </a:ext>
                </a:extLst>
              </p:cNvPr>
              <p:cNvSpPr txBox="1"/>
              <p:nvPr/>
            </p:nvSpPr>
            <p:spPr>
              <a:xfrm>
                <a:off x="2177627" y="2654262"/>
                <a:ext cx="18728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2 800 344 рублей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313DD47F-E8BF-8796-0719-2C1E14895408}"/>
                      </a:ext>
                    </a:extLst>
                  </p:cNvPr>
                  <p:cNvSpPr txBox="1"/>
                  <p:nvPr/>
                </p:nvSpPr>
                <p:spPr>
                  <a:xfrm>
                    <a:off x="6634481" y="2284930"/>
                    <a:ext cx="358647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Косвенный годовой эффект</a:t>
                    </a:r>
                    <a14:m>
                      <m:oMath xmlns:m="http://schemas.openxmlformats.org/officeDocument/2006/math"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косв</m:t>
                            </m:r>
                          </m:sub>
                        </m:sSub>
                      </m:oMath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313DD47F-E8BF-8796-0719-2C1E148954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4481" y="2284930"/>
                    <a:ext cx="358647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358" t="-9836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FBDCFD-8C59-BF1A-D6F6-9D2BEBD46CAF}"/>
                  </a:ext>
                </a:extLst>
              </p:cNvPr>
              <p:cNvSpPr txBox="1"/>
              <p:nvPr/>
            </p:nvSpPr>
            <p:spPr>
              <a:xfrm>
                <a:off x="7985761" y="2654262"/>
                <a:ext cx="167301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120 112 рублей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57E10A0-5834-E062-83D8-298E6F8B358F}"/>
                      </a:ext>
                    </a:extLst>
                  </p:cNvPr>
                  <p:cNvSpPr txBox="1"/>
                  <p:nvPr/>
                </p:nvSpPr>
                <p:spPr>
                  <a:xfrm>
                    <a:off x="6634481" y="728881"/>
                    <a:ext cx="4555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Полная стоимость владения</a:t>
                    </a:r>
                    <a14:m>
                      <m:oMath xmlns:m="http://schemas.openxmlformats.org/officeDocument/2006/math"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1800" b="1" i="1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𝑻𝑪𝑶</m:t>
                        </m:r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a14:m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за 3 года</a:t>
                    </a:r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357E10A0-5834-E062-83D8-298E6F8B35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4481" y="728881"/>
                    <a:ext cx="4555066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070" t="-9836" r="-668" b="-22951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D06720A-7751-FDF0-F6AC-15A2CE4ABBD9}"/>
                  </a:ext>
                </a:extLst>
              </p:cNvPr>
              <p:cNvSpPr txBox="1"/>
              <p:nvPr/>
            </p:nvSpPr>
            <p:spPr>
              <a:xfrm>
                <a:off x="7985761" y="1098213"/>
                <a:ext cx="185250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4 474 048 рублей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D6D3E2B-A811-AC7E-DDC9-6C4C02245552}"/>
                      </a:ext>
                    </a:extLst>
                  </p:cNvPr>
                  <p:cNvSpPr txBox="1"/>
                  <p:nvPr/>
                </p:nvSpPr>
                <p:spPr>
                  <a:xfrm>
                    <a:off x="6634481" y="1467545"/>
                    <a:ext cx="3992879" cy="38555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Дисконтированная</a:t>
                    </a:r>
                    <a14:m>
                      <m:oMath xmlns:m="http://schemas.openxmlformats.org/officeDocument/2006/math">
                        <m:r>
                          <a:rPr lang="ru-RU" sz="1800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ru-RU" sz="1800" b="1" i="1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𝑻𝑪</m:t>
                        </m:r>
                        <m:sSub>
                          <m:sSubPr>
                            <m:ctrlP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𝑶</m:t>
                            </m:r>
                          </m:e>
                          <m:sub>
                            <m:r>
                              <a:rPr lang="ru-RU" sz="1800" b="1" i="1">
                                <a:solidFill>
                                  <a:srgbClr val="801212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диск</m:t>
                            </m:r>
                          </m:sub>
                        </m:sSub>
                        <m:r>
                          <a:rPr lang="ru-RU" sz="1800" b="1">
                            <a:solidFill>
                              <a:srgbClr val="801212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a14:m>
                    <a:r>
                      <a:rPr lang="ru-RU" sz="1800" b="1" dirty="0">
                        <a:solidFill>
                          <a:srgbClr val="80121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за 3 года</a:t>
                    </a:r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6D6D3E2B-A811-AC7E-DDC9-6C4C022455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34481" y="1467545"/>
                    <a:ext cx="3992879" cy="38555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21" t="-7937" r="-458" b="-20635"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3B67F193-73F4-CD00-A566-ABD45DAF68A9}"/>
                  </a:ext>
                </a:extLst>
              </p:cNvPr>
              <p:cNvSpPr txBox="1"/>
              <p:nvPr/>
            </p:nvSpPr>
            <p:spPr>
              <a:xfrm>
                <a:off x="7985761" y="1836877"/>
                <a:ext cx="18457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3 919 167 рублей</a:t>
                </a:r>
                <a:endParaRPr lang="ru-RU" dirty="0"/>
              </a:p>
            </p:txBody>
          </p:sp>
        </p:grpSp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045B074F-D916-A9FA-FC05-3C49F07ED820}"/>
                </a:ext>
              </a:extLst>
            </p:cNvPr>
            <p:cNvGrpSpPr/>
            <p:nvPr/>
          </p:nvGrpSpPr>
          <p:grpSpPr>
            <a:xfrm>
              <a:off x="3344756" y="3798332"/>
              <a:ext cx="5316220" cy="1645028"/>
              <a:chOff x="2697479" y="3429000"/>
              <a:chExt cx="5316220" cy="16450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8C264DB-A7E6-BC7B-6386-CCD0F20B0060}"/>
                      </a:ext>
                    </a:extLst>
                  </p:cNvPr>
                  <p:cNvSpPr txBox="1"/>
                  <p:nvPr/>
                </p:nvSpPr>
                <p:spPr>
                  <a:xfrm>
                    <a:off x="3229186" y="3429000"/>
                    <a:ext cx="80941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1" i="1" smtClean="0">
                              <a:solidFill>
                                <a:srgbClr val="801212"/>
                              </a:solidFill>
                              <a:latin typeface="Cambria Math" panose="02040503050406030204" pitchFamily="18" charset="0"/>
                            </a:rPr>
                            <m:t>𝑵𝑷𝑽</m:t>
                          </m:r>
                        </m:oMath>
                      </m:oMathPara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8C264DB-A7E6-BC7B-6386-CCD0F20B00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9186" y="3429000"/>
                    <a:ext cx="80941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08B4E4D-D76A-BF9E-89F3-F245258C2224}"/>
                  </a:ext>
                </a:extLst>
              </p:cNvPr>
              <p:cNvSpPr txBox="1"/>
              <p:nvPr/>
            </p:nvSpPr>
            <p:spPr>
              <a:xfrm>
                <a:off x="2697479" y="3817360"/>
                <a:ext cx="18728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3 455 960 рублей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3433FD6D-C726-F3D6-50FC-843361436C7A}"/>
                      </a:ext>
                    </a:extLst>
                  </p:cNvPr>
                  <p:cNvSpPr txBox="1"/>
                  <p:nvPr/>
                </p:nvSpPr>
                <p:spPr>
                  <a:xfrm>
                    <a:off x="5286587" y="3429000"/>
                    <a:ext cx="809413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1" i="1" smtClean="0">
                              <a:solidFill>
                                <a:srgbClr val="801212"/>
                              </a:solidFill>
                              <a:latin typeface="Cambria Math" panose="02040503050406030204" pitchFamily="18" charset="0"/>
                            </a:rPr>
                            <m:t>𝑹𝑶𝑰</m:t>
                          </m:r>
                        </m:oMath>
                      </m:oMathPara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3433FD6D-C726-F3D6-50FC-843361436C7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6587" y="3429000"/>
                    <a:ext cx="80941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5777B77-EE56-955D-451F-F698C0853315}"/>
                  </a:ext>
                </a:extLst>
              </p:cNvPr>
              <p:cNvSpPr txBox="1"/>
              <p:nvPr/>
            </p:nvSpPr>
            <p:spPr>
              <a:xfrm>
                <a:off x="5312833" y="3817360"/>
                <a:ext cx="7569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161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%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8A87474A-3B2D-2F0E-686C-DA4D99FA969D}"/>
                      </a:ext>
                    </a:extLst>
                  </p:cNvPr>
                  <p:cNvSpPr txBox="1"/>
                  <p:nvPr/>
                </p:nvSpPr>
                <p:spPr>
                  <a:xfrm>
                    <a:off x="7343988" y="3448028"/>
                    <a:ext cx="589279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1" i="1" smtClean="0">
                              <a:solidFill>
                                <a:srgbClr val="801212"/>
                              </a:solidFill>
                              <a:latin typeface="Cambria Math" panose="02040503050406030204" pitchFamily="18" charset="0"/>
                            </a:rPr>
                            <m:t>𝑰𝑹𝑹</m:t>
                          </m:r>
                        </m:oMath>
                      </m:oMathPara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8A87474A-3B2D-2F0E-686C-DA4D99FA96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43988" y="3448028"/>
                    <a:ext cx="589279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EBFB25-8903-552C-5FD9-7C838721F72B}"/>
                  </a:ext>
                </a:extLst>
              </p:cNvPr>
              <p:cNvSpPr txBox="1"/>
              <p:nvPr/>
            </p:nvSpPr>
            <p:spPr>
              <a:xfrm>
                <a:off x="7263555" y="3817360"/>
                <a:ext cx="750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108</a:t>
                </a:r>
                <a:r>
                  <a:rPr lang="ru-RU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%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DBA0D29C-EE65-33E7-DD4B-1BDBEFA448F1}"/>
                      </a:ext>
                    </a:extLst>
                  </p:cNvPr>
                  <p:cNvSpPr txBox="1"/>
                  <p:nvPr/>
                </p:nvSpPr>
                <p:spPr>
                  <a:xfrm>
                    <a:off x="4207933" y="4294089"/>
                    <a:ext cx="5638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ru-RU" b="1" i="1" smtClean="0">
                                  <a:solidFill>
                                    <a:srgbClr val="80121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1">
                                  <a:solidFill>
                                    <a:srgbClr val="801212"/>
                                  </a:solidFill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ru-RU" b="0" i="0">
                                  <a:solidFill>
                                    <a:srgbClr val="801212"/>
                                  </a:solidFill>
                                  <a:latin typeface="Cambria Math" panose="02040503050406030204" pitchFamily="18" charset="0"/>
                                </a:rPr>
                                <m:t>ок</m:t>
                              </m:r>
                            </m:sub>
                          </m:sSub>
                        </m:oMath>
                      </m:oMathPara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DBA0D29C-EE65-33E7-DD4B-1BDBEFA448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7933" y="4294089"/>
                    <a:ext cx="563880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203C431-70D0-15A4-1C53-6C15D1DF477F}"/>
                  </a:ext>
                </a:extLst>
              </p:cNvPr>
              <p:cNvSpPr txBox="1"/>
              <p:nvPr/>
            </p:nvSpPr>
            <p:spPr>
              <a:xfrm>
                <a:off x="3877733" y="4704696"/>
                <a:ext cx="1224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Times New Roman" panose="02020603050405020304" pitchFamily="18" charset="0"/>
                  </a:rPr>
                  <a:t>9,2 месяца</a:t>
                </a:r>
                <a:endParaRPr lang="ru-RU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C947715-7BB6-DEC3-6E41-1E17F32E6716}"/>
                      </a:ext>
                    </a:extLst>
                  </p:cNvPr>
                  <p:cNvSpPr txBox="1"/>
                  <p:nvPr/>
                </p:nvSpPr>
                <p:spPr>
                  <a:xfrm>
                    <a:off x="6322909" y="4335364"/>
                    <a:ext cx="675637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ru-RU" b="1" i="1" smtClean="0">
                              <a:solidFill>
                                <a:srgbClr val="801212"/>
                              </a:solidFill>
                              <a:latin typeface="Cambria Math" panose="02040503050406030204" pitchFamily="18" charset="0"/>
                            </a:rPr>
                            <m:t>𝑫𝑷𝑷</m:t>
                          </m:r>
                        </m:oMath>
                      </m:oMathPara>
                    </a14:m>
                    <a:endParaRPr lang="ru-RU" dirty="0">
                      <a:solidFill>
                        <a:srgbClr val="80121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0C947715-7BB6-DEC3-6E41-1E17F32E67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2909" y="4335364"/>
                    <a:ext cx="675637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ru-RU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79AD412-7C39-0604-663D-D82CDC8AACEC}"/>
                  </a:ext>
                </a:extLst>
              </p:cNvPr>
              <p:cNvSpPr txBox="1"/>
              <p:nvPr/>
            </p:nvSpPr>
            <p:spPr>
              <a:xfrm>
                <a:off x="5984241" y="4704696"/>
                <a:ext cx="13597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10,2 месяца</a:t>
                </a:r>
                <a:endParaRPr lang="ru-RU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9704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38B9A-0912-C111-9E0F-77318BCC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A04BAD1-FA4A-6366-5838-7E92D5C5CA8A}"/>
              </a:ext>
            </a:extLst>
          </p:cNvPr>
          <p:cNvSpPr/>
          <p:nvPr/>
        </p:nvSpPr>
        <p:spPr>
          <a:xfrm>
            <a:off x="0" y="0"/>
            <a:ext cx="12192000" cy="82550"/>
          </a:xfrm>
          <a:prstGeom prst="rect">
            <a:avLst/>
          </a:prstGeom>
          <a:solidFill>
            <a:srgbClr val="801212"/>
          </a:solidFill>
          <a:ln>
            <a:solidFill>
              <a:srgbClr val="80121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01C1AC-5216-1F10-5BA0-E77ADD7C7033}"/>
              </a:ext>
            </a:extLst>
          </p:cNvPr>
          <p:cNvSpPr txBox="1"/>
          <p:nvPr/>
        </p:nvSpPr>
        <p:spPr>
          <a:xfrm>
            <a:off x="2474594" y="3105834"/>
            <a:ext cx="7242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solidFill>
                  <a:srgbClr val="80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0667355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819</Words>
  <Application>Microsoft Office PowerPoint</Application>
  <PresentationFormat>Широкоэкранный</PresentationFormat>
  <Paragraphs>142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Данила Грабовец</dc:creator>
  <cp:lastModifiedBy>Данила Грабовец</cp:lastModifiedBy>
  <cp:revision>12</cp:revision>
  <dcterms:created xsi:type="dcterms:W3CDTF">2026-05-23T16:23:55Z</dcterms:created>
  <dcterms:modified xsi:type="dcterms:W3CDTF">2026-05-27T11:38:52Z</dcterms:modified>
</cp:coreProperties>
</file>