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81" r:id="rId2"/>
    <p:sldId id="257" r:id="rId3"/>
    <p:sldId id="282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8FFE"/>
    <a:srgbClr val="BDD7FC"/>
    <a:srgbClr val="0264F4"/>
    <a:srgbClr val="FFFFFF"/>
    <a:srgbClr val="0255CE"/>
    <a:srgbClr val="1F7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7723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27040-298E-191E-BDA2-A76815957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B1B7407-7288-A0B5-2CB5-A9586A96C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71CFA9-81A1-1D4D-9A7A-1A5487B111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2C43C5-2138-961C-B58D-4C3442A110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00664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DE8732C-FBA9-B255-D23D-3F77465D4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C8380D-31DC-4C0B-9964-1AD330E91726}" type="datetimeFigureOut">
              <a:rPr lang="ru-RU" smtClean="0"/>
              <a:t>27.05.2026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1FD123E-C58B-15A6-E281-5963A5547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4F39CB-9F05-3B0F-0654-A720CE7D4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A03DD1-5C50-49E1-A795-28F5B148B71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32258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436881" y="98799"/>
            <a:ext cx="2814319" cy="946314"/>
            <a:chOff x="535775" y="87356"/>
            <a:chExt cx="4655985" cy="1565573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35775" y="409326"/>
              <a:ext cx="2100661" cy="921634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36436" y="87356"/>
              <a:ext cx="2555324" cy="1565573"/>
            </a:xfrm>
            <a:prstGeom prst="rect">
              <a:avLst/>
            </a:prstGeom>
          </p:spPr>
        </p:pic>
      </p:grpSp>
      <p:sp>
        <p:nvSpPr>
          <p:cNvPr id="4" name="TextBox 3"/>
          <p:cNvSpPr txBox="1"/>
          <p:nvPr/>
        </p:nvSpPr>
        <p:spPr>
          <a:xfrm>
            <a:off x="2367280" y="828811"/>
            <a:ext cx="7701280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</a:t>
            </a:r>
          </a:p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высшего образования</a:t>
            </a:r>
          </a:p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«РОССИЙСКАЯ АКАДЕМИЯ НАРОДНОГО ХОЗЯЙСТВА и</a:t>
            </a:r>
          </a:p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ГОСУДАРСТВЕННОЙ СЛУЖБЫ</a:t>
            </a:r>
          </a:p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 ПРЕЗИДЕНТЕ РОССИЙСКОЙ ФЕДЕРАЦИИ»</a:t>
            </a:r>
          </a:p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ИНСТИТУТ ЭКОНОМИКИ, МАТЕМАТИКИ И ИНФОРМАЦИОННЫХ ТЕХНОЛОГИЙ</a:t>
            </a:r>
          </a:p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ФАКУЛЬТЕТ ИНФОРМАЦИОННЫХ ТЕХНОЛОГИЙ И АНАЛИЗА ДАННЫХ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195830" y="2563630"/>
            <a:ext cx="19253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 ОБ-230766-22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28080" y="2567690"/>
            <a:ext cx="384048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«Системного анализа и информатики»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40" y="2987612"/>
            <a:ext cx="44805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Направление 09.03.03 Прикладная информатика</a:t>
            </a:r>
          </a:p>
          <a:p>
            <a:pPr algn="ctr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Квалификация: бакалавр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36881" y="3708616"/>
            <a:ext cx="11196320" cy="1258976"/>
          </a:xfrm>
          <a:prstGeom prst="rect">
            <a:avLst/>
          </a:prstGeom>
          <a:ln w="28575">
            <a:solidFill>
              <a:srgbClr val="801212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00206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8801" y="3816280"/>
            <a:ext cx="10850880" cy="992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ДИПЛОМНЫЙ ПРОЕКТ</a:t>
            </a:r>
          </a:p>
          <a:p>
            <a:pPr algn="ctr"/>
            <a:endParaRPr lang="ru-RU" sz="105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 «Разработка информационной системы A/B-тестирования параметров веб-приложений для ИП Макарова Виктория Юрьевна с использованием СУБД </a:t>
            </a:r>
            <a:r>
              <a:rPr lang="ru-RU" sz="16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ru-RU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ЯП C#.»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52641" y="5123471"/>
            <a:ext cx="44805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Студент-дипломник:Демкин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Алексей Семенович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проекта: Егорова Лариса Ивановна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Консультант: Богомольная Галина Владимировна</a:t>
            </a:r>
          </a:p>
          <a:p>
            <a:pPr algn="r"/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Зав. кафедрой: </a:t>
            </a:r>
            <a:r>
              <a:rPr lang="ru-RU" sz="1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Маруев</a:t>
            </a:r>
            <a:r>
              <a:rPr lang="ru-RU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Сергей Александрович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26840" y="6368950"/>
            <a:ext cx="44805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МОСКВА, 2026 г.</a:t>
            </a:r>
          </a:p>
        </p:txBody>
      </p:sp>
    </p:spTree>
    <p:extLst>
      <p:ext uri="{BB962C8B-B14F-4D97-AF65-F5344CB8AC3E}">
        <p14:creationId xmlns:p14="http://schemas.microsoft.com/office/powerpoint/2010/main" val="3348818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10584434" y="210312"/>
            <a:ext cx="1782572" cy="60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264F4"/>
                </a:solidFill>
              </a:rPr>
              <a:t>Параметрика</a:t>
            </a:r>
            <a:endParaRPr lang="en-US" dirty="0">
              <a:solidFill>
                <a:srgbClr val="0264F4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Актуальность, цель, объект и предмет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Кратко: зачем нужна система и что именно разрабатывается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02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150876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594360" y="1508760"/>
            <a:ext cx="73152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822960" y="165506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Актуальность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198424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Проверка гипотез в </a:t>
            </a:r>
            <a:r>
              <a:rPr lang="ru-RU" sz="1250" dirty="0">
                <a:solidFill>
                  <a:srgbClr val="62748A"/>
                </a:solidFill>
              </a:rPr>
              <a:t>Веб приложений </a:t>
            </a:r>
            <a:r>
              <a:rPr lang="en-US" sz="1250" dirty="0" err="1">
                <a:solidFill>
                  <a:srgbClr val="62748A"/>
                </a:solidFill>
              </a:rPr>
              <a:t>сейчас</a:t>
            </a:r>
            <a:r>
              <a:rPr lang="en-US" sz="1250" dirty="0">
                <a:solidFill>
                  <a:srgbClr val="62748A"/>
                </a:solidFill>
              </a:rPr>
              <a:t> часто требует правки проекта, сборки и новой публикации.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150876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6263640" y="1508760"/>
            <a:ext cx="73152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6492240" y="165506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Цель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92240" y="198424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Разработать ИС для A/B‑тестирования параметров веб‑приложений через </a:t>
            </a:r>
            <a:r>
              <a:rPr lang="en-US" sz="1250" dirty="0" err="1">
                <a:solidFill>
                  <a:srgbClr val="62748A"/>
                </a:solidFill>
              </a:rPr>
              <a:t>клиент‑серверную</a:t>
            </a:r>
            <a:r>
              <a:rPr lang="en-US" sz="1250" dirty="0">
                <a:solidFill>
                  <a:srgbClr val="62748A"/>
                </a:solidFill>
              </a:rPr>
              <a:t> </a:t>
            </a:r>
            <a:r>
              <a:rPr lang="en-US" sz="1250" dirty="0" err="1">
                <a:solidFill>
                  <a:srgbClr val="62748A"/>
                </a:solidFill>
              </a:rPr>
              <a:t>архитектуру</a:t>
            </a:r>
            <a:r>
              <a:rPr lang="ru-RU" sz="1250" dirty="0">
                <a:solidFill>
                  <a:srgbClr val="62748A"/>
                </a:solidFill>
              </a:rPr>
              <a:t> с использованием ЯП </a:t>
            </a:r>
            <a:r>
              <a:rPr lang="en-US" sz="1250" dirty="0">
                <a:solidFill>
                  <a:srgbClr val="62748A"/>
                </a:solidFill>
              </a:rPr>
              <a:t>C#.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9436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Shape 19"/>
          <p:cNvSpPr/>
          <p:nvPr/>
        </p:nvSpPr>
        <p:spPr>
          <a:xfrm>
            <a:off x="594360" y="292608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822960" y="307238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Объект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340156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Процесс управления параметрами веб‑приложений и проверки продуктовых гипотез.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6364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5" name="Shape 23"/>
          <p:cNvSpPr/>
          <p:nvPr/>
        </p:nvSpPr>
        <p:spPr>
          <a:xfrm>
            <a:off x="6263640" y="2926080"/>
            <a:ext cx="73152" cy="1051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/>
          <p:cNvSpPr/>
          <p:nvPr/>
        </p:nvSpPr>
        <p:spPr>
          <a:xfrm>
            <a:off x="6492240" y="307238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Предмет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492240" y="340156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ИС A/B‑тестирования параметров с Unity HTML5‑клиентом, backend API и PostgreSQL.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05840" y="4800600"/>
            <a:ext cx="10149840" cy="749808"/>
          </a:xfrm>
          <a:prstGeom prst="roundRect">
            <a:avLst>
              <a:gd name="adj" fmla="val 21951"/>
            </a:avLst>
          </a:prstGeom>
          <a:solidFill>
            <a:srgbClr val="EAF2FF"/>
          </a:solidFill>
          <a:ln w="12700">
            <a:solidFill>
              <a:srgbClr val="C7DB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/>
          <p:cNvSpPr/>
          <p:nvPr/>
        </p:nvSpPr>
        <p:spPr>
          <a:xfrm>
            <a:off x="1188720" y="4800599"/>
            <a:ext cx="9784080" cy="749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</a:rPr>
              <a:t>Главная идея: изменить параметр и проверить гипотезу без новой публикации клиентского приложения</a:t>
            </a:r>
            <a:endParaRPr lang="en-US" sz="1500" dirty="0"/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D14EC826-5461-ACEE-8EAE-3C7D485E75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219" y="184793"/>
            <a:ext cx="647311" cy="647311"/>
          </a:xfrm>
          <a:prstGeom prst="roundRect">
            <a:avLst>
              <a:gd name="adj" fmla="val 28724"/>
            </a:avLst>
          </a:prstGeom>
          <a:ln>
            <a:solidFill>
              <a:srgbClr val="BDD7FC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76A5C-9D78-1019-5CD0-EEC27177D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>
            <a:extLst>
              <a:ext uri="{FF2B5EF4-FFF2-40B4-BE49-F238E27FC236}">
                <a16:creationId xmlns:a16="http://schemas.microsoft.com/office/drawing/2014/main" id="{34546E56-9EDC-4259-BB70-13676E1EDA8F}"/>
              </a:ext>
            </a:extLst>
          </p:cNvPr>
          <p:cNvSpPr/>
          <p:nvPr/>
        </p:nvSpPr>
        <p:spPr>
          <a:xfrm>
            <a:off x="10584434" y="210312"/>
            <a:ext cx="1782572" cy="6000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264F4"/>
                </a:solidFill>
              </a:rPr>
              <a:t>Параметрика</a:t>
            </a:r>
            <a:endParaRPr lang="en-US" dirty="0">
              <a:solidFill>
                <a:srgbClr val="0264F4"/>
              </a:solidFill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915D086C-C72B-55A3-3E88-E87F898ACEE0}"/>
              </a:ext>
            </a:extLst>
          </p:cNvPr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ru-RU" sz="2600" b="1" dirty="0">
                <a:solidFill>
                  <a:srgbClr val="102033"/>
                </a:solidFill>
              </a:rPr>
              <a:t>Главные проблемы ручной публикации</a:t>
            </a:r>
            <a:endParaRPr lang="en-US" sz="26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AD5B3C5-E866-15A2-4C29-0A83DC305A3E}"/>
              </a:ext>
            </a:extLst>
          </p:cNvPr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Кратко: зачем нужна система и что именно разрабатывается</a:t>
            </a:r>
            <a:endParaRPr lang="en-US" sz="11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29590B2-D390-D90F-E846-00B81065DE3C}"/>
              </a:ext>
            </a:extLst>
          </p:cNvPr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02</a:t>
            </a:r>
            <a:endParaRPr lang="en-US" sz="9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A9F1E05D-FDA7-DA30-B2B1-1DCFF51A2132}"/>
              </a:ext>
            </a:extLst>
          </p:cNvPr>
          <p:cNvSpPr/>
          <p:nvPr/>
        </p:nvSpPr>
        <p:spPr>
          <a:xfrm>
            <a:off x="594360" y="150876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8939126A-5025-6E46-ECA0-3801FB3964C5}"/>
              </a:ext>
            </a:extLst>
          </p:cNvPr>
          <p:cNvSpPr/>
          <p:nvPr/>
        </p:nvSpPr>
        <p:spPr>
          <a:xfrm>
            <a:off x="594360" y="1508760"/>
            <a:ext cx="73152" cy="1051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BAF4FEC-9362-21E5-C6A0-2345963D0E0A}"/>
              </a:ext>
            </a:extLst>
          </p:cNvPr>
          <p:cNvSpPr/>
          <p:nvPr/>
        </p:nvSpPr>
        <p:spPr>
          <a:xfrm>
            <a:off x="822960" y="165506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Актуальность</a:t>
            </a:r>
            <a:endParaRPr lang="en-US" sz="15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A29B6F46-A35D-CD9C-78D7-6BD3CFC64DB3}"/>
              </a:ext>
            </a:extLst>
          </p:cNvPr>
          <p:cNvSpPr/>
          <p:nvPr/>
        </p:nvSpPr>
        <p:spPr>
          <a:xfrm>
            <a:off x="822960" y="198424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Проверка гипотез в </a:t>
            </a:r>
            <a:r>
              <a:rPr lang="ru-RU" sz="1250" dirty="0">
                <a:solidFill>
                  <a:srgbClr val="62748A"/>
                </a:solidFill>
              </a:rPr>
              <a:t>Веб приложений </a:t>
            </a:r>
            <a:r>
              <a:rPr lang="en-US" sz="1250" dirty="0" err="1">
                <a:solidFill>
                  <a:srgbClr val="62748A"/>
                </a:solidFill>
              </a:rPr>
              <a:t>сейчас</a:t>
            </a:r>
            <a:r>
              <a:rPr lang="en-US" sz="1250" dirty="0">
                <a:solidFill>
                  <a:srgbClr val="62748A"/>
                </a:solidFill>
              </a:rPr>
              <a:t> часто требует правки проекта, сборки и новой публикации.</a:t>
            </a:r>
            <a:endParaRPr lang="en-US" sz="1250" dirty="0"/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E430E218-E560-71DE-4794-28DAA055F826}"/>
              </a:ext>
            </a:extLst>
          </p:cNvPr>
          <p:cNvSpPr/>
          <p:nvPr/>
        </p:nvSpPr>
        <p:spPr>
          <a:xfrm>
            <a:off x="6263640" y="150876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A7C703AD-C3AF-E0A7-0A52-F45C7A222084}"/>
              </a:ext>
            </a:extLst>
          </p:cNvPr>
          <p:cNvSpPr/>
          <p:nvPr/>
        </p:nvSpPr>
        <p:spPr>
          <a:xfrm>
            <a:off x="6263640" y="1508760"/>
            <a:ext cx="73152" cy="10515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1542A380-BF87-9066-3EC4-366D58BB73FF}"/>
              </a:ext>
            </a:extLst>
          </p:cNvPr>
          <p:cNvSpPr/>
          <p:nvPr/>
        </p:nvSpPr>
        <p:spPr>
          <a:xfrm>
            <a:off x="6492240" y="165506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Цель</a:t>
            </a:r>
            <a:endParaRPr lang="en-US" sz="15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ABD5077-F7F2-3DB0-53EA-3355928AAD66}"/>
              </a:ext>
            </a:extLst>
          </p:cNvPr>
          <p:cNvSpPr/>
          <p:nvPr/>
        </p:nvSpPr>
        <p:spPr>
          <a:xfrm>
            <a:off x="6492240" y="198424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Разработать ИС для A/B‑тестирования параметров веб‑приложений через </a:t>
            </a:r>
            <a:r>
              <a:rPr lang="en-US" sz="1250" dirty="0" err="1">
                <a:solidFill>
                  <a:srgbClr val="62748A"/>
                </a:solidFill>
              </a:rPr>
              <a:t>клиент‑серверную</a:t>
            </a:r>
            <a:r>
              <a:rPr lang="en-US" sz="1250" dirty="0">
                <a:solidFill>
                  <a:srgbClr val="62748A"/>
                </a:solidFill>
              </a:rPr>
              <a:t> </a:t>
            </a:r>
            <a:r>
              <a:rPr lang="en-US" sz="1250" dirty="0" err="1">
                <a:solidFill>
                  <a:srgbClr val="62748A"/>
                </a:solidFill>
              </a:rPr>
              <a:t>архитектуру</a:t>
            </a:r>
            <a:r>
              <a:rPr lang="ru-RU" sz="1250" dirty="0">
                <a:solidFill>
                  <a:srgbClr val="62748A"/>
                </a:solidFill>
              </a:rPr>
              <a:t> с использованием ЯП </a:t>
            </a:r>
            <a:r>
              <a:rPr lang="en-US" sz="1250" dirty="0">
                <a:solidFill>
                  <a:srgbClr val="62748A"/>
                </a:solidFill>
              </a:rPr>
              <a:t>C#.</a:t>
            </a:r>
            <a:endParaRPr lang="en-US" sz="125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CFD963D9-818E-8727-C124-6787D563DA20}"/>
              </a:ext>
            </a:extLst>
          </p:cNvPr>
          <p:cNvSpPr/>
          <p:nvPr/>
        </p:nvSpPr>
        <p:spPr>
          <a:xfrm>
            <a:off x="59436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0748C470-2EBC-B57B-A5BB-C57AA97734D2}"/>
              </a:ext>
            </a:extLst>
          </p:cNvPr>
          <p:cNvSpPr/>
          <p:nvPr/>
        </p:nvSpPr>
        <p:spPr>
          <a:xfrm>
            <a:off x="594360" y="2926080"/>
            <a:ext cx="73152" cy="1051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2155DAD-A728-4DF3-344B-30BE380D50AA}"/>
              </a:ext>
            </a:extLst>
          </p:cNvPr>
          <p:cNvSpPr/>
          <p:nvPr/>
        </p:nvSpPr>
        <p:spPr>
          <a:xfrm>
            <a:off x="822960" y="307238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Объект</a:t>
            </a:r>
            <a:endParaRPr lang="en-US" sz="15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372F5702-72ED-3970-AE0D-27EA0506A363}"/>
              </a:ext>
            </a:extLst>
          </p:cNvPr>
          <p:cNvSpPr/>
          <p:nvPr/>
        </p:nvSpPr>
        <p:spPr>
          <a:xfrm>
            <a:off x="822960" y="340156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Процесс управления параметрами веб‑приложений и проверки продуктовых гипотез.</a:t>
            </a:r>
            <a:endParaRPr lang="en-US" sz="125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DA4E1AE2-9205-0C40-D67F-5D15AC02E734}"/>
              </a:ext>
            </a:extLst>
          </p:cNvPr>
          <p:cNvSpPr/>
          <p:nvPr/>
        </p:nvSpPr>
        <p:spPr>
          <a:xfrm>
            <a:off x="6263640" y="2926080"/>
            <a:ext cx="53035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22F2598-E795-360E-9125-7DE99F3C8854}"/>
              </a:ext>
            </a:extLst>
          </p:cNvPr>
          <p:cNvSpPr/>
          <p:nvPr/>
        </p:nvSpPr>
        <p:spPr>
          <a:xfrm>
            <a:off x="6263640" y="2926080"/>
            <a:ext cx="73152" cy="10515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95066CD-7672-7247-BE65-79E5C9ED8EF0}"/>
              </a:ext>
            </a:extLst>
          </p:cNvPr>
          <p:cNvSpPr/>
          <p:nvPr/>
        </p:nvSpPr>
        <p:spPr>
          <a:xfrm>
            <a:off x="6492240" y="3072384"/>
            <a:ext cx="4983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Предмет</a:t>
            </a:r>
            <a:endParaRPr lang="en-US" sz="15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997E164A-978C-1CEA-EBD8-EBFCF703A4D4}"/>
              </a:ext>
            </a:extLst>
          </p:cNvPr>
          <p:cNvSpPr/>
          <p:nvPr/>
        </p:nvSpPr>
        <p:spPr>
          <a:xfrm>
            <a:off x="6492240" y="3401568"/>
            <a:ext cx="4937760" cy="4572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ИС A/B‑тестирования параметров с Unity HTML5‑клиентом, backend API и PostgreSQL.</a:t>
            </a:r>
            <a:endParaRPr lang="en-US" sz="12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D7DFF9A8-00E0-B21F-AFD6-0F9E4BC389B0}"/>
              </a:ext>
            </a:extLst>
          </p:cNvPr>
          <p:cNvSpPr/>
          <p:nvPr/>
        </p:nvSpPr>
        <p:spPr>
          <a:xfrm>
            <a:off x="1005840" y="4800600"/>
            <a:ext cx="10149840" cy="749808"/>
          </a:xfrm>
          <a:prstGeom prst="roundRect">
            <a:avLst>
              <a:gd name="adj" fmla="val 21951"/>
            </a:avLst>
          </a:prstGeom>
          <a:solidFill>
            <a:srgbClr val="EAF2FF"/>
          </a:solidFill>
          <a:ln w="12700">
            <a:solidFill>
              <a:srgbClr val="C7DB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5ECF5476-0207-04BD-DE3A-50838CEAE3D4}"/>
              </a:ext>
            </a:extLst>
          </p:cNvPr>
          <p:cNvSpPr/>
          <p:nvPr/>
        </p:nvSpPr>
        <p:spPr>
          <a:xfrm>
            <a:off x="1188720" y="4800599"/>
            <a:ext cx="9784080" cy="749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</a:rPr>
              <a:t>Главная идея: изменить параметр и проверить гипотезу без новой публикации клиентского приложения</a:t>
            </a:r>
            <a:endParaRPr lang="en-US" sz="1500" dirty="0"/>
          </a:p>
        </p:txBody>
      </p:sp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4E9F329A-7ECD-855D-ACF8-CF48703C24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5219" y="184793"/>
            <a:ext cx="647311" cy="647311"/>
          </a:xfrm>
          <a:prstGeom prst="roundRect">
            <a:avLst>
              <a:gd name="adj" fmla="val 28724"/>
            </a:avLst>
          </a:prstGeom>
          <a:ln>
            <a:solidFill>
              <a:srgbClr val="BDD7FC"/>
            </a:solidFill>
          </a:ln>
        </p:spPr>
      </p:pic>
    </p:spTree>
    <p:extLst>
      <p:ext uri="{BB962C8B-B14F-4D97-AF65-F5344CB8AC3E}">
        <p14:creationId xmlns:p14="http://schemas.microsoft.com/office/powerpoint/2010/main" val="9919063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Предметная область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Участники и сервисы, между которыми проходит обмен данными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03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062472" y="4645152"/>
            <a:ext cx="213969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</a:rPr>
              <a:t>Яндекс Метрика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02033"/>
                </a:solidFill>
              </a:rPr>
              <a:t>анализ поведения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5806440"/>
            <a:ext cx="10058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62748A"/>
                </a:solidFill>
              </a:rPr>
              <a:t>Система управляет параметрами и экспериментами. Поведенческая аналитика остаётся во внешней системе.</a:t>
            </a:r>
            <a:endParaRPr lang="en-US" sz="1450" dirty="0"/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45EEB341-F8FD-A6AE-F9A8-342250F619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2"/>
          <a:stretch>
            <a:fillRect/>
          </a:stretch>
        </p:blipFill>
        <p:spPr bwMode="auto">
          <a:xfrm>
            <a:off x="3873732" y="1325486"/>
            <a:ext cx="7128584" cy="4259393"/>
          </a:xfrm>
          <a:prstGeom prst="roundRect">
            <a:avLst>
              <a:gd name="adj" fmla="val 7138"/>
            </a:avLst>
          </a:prstGeom>
          <a:noFill/>
          <a:ln w="28575">
            <a:solidFill>
              <a:srgbClr val="448FFE"/>
            </a:solidFill>
          </a:ln>
        </p:spPr>
      </p:pic>
      <p:sp>
        <p:nvSpPr>
          <p:cNvPr id="29" name="Shape 27"/>
          <p:cNvSpPr/>
          <p:nvPr/>
        </p:nvSpPr>
        <p:spPr>
          <a:xfrm>
            <a:off x="203663" y="2313017"/>
            <a:ext cx="3383280" cy="347472"/>
          </a:xfrm>
          <a:prstGeom prst="roundRect">
            <a:avLst>
              <a:gd name="adj" fmla="val 31579"/>
            </a:avLst>
          </a:prstGeom>
          <a:solidFill>
            <a:srgbClr val="2563EB">
              <a:alpha val="93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203663" y="2377025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application_id + user_id + parameter_key</a:t>
            </a:r>
            <a:endParaRPr lang="en-US" sz="1050" dirty="0"/>
          </a:p>
        </p:txBody>
      </p:sp>
      <p:sp>
        <p:nvSpPr>
          <p:cNvPr id="36" name="Shape 27">
            <a:extLst>
              <a:ext uri="{FF2B5EF4-FFF2-40B4-BE49-F238E27FC236}">
                <a16:creationId xmlns:a16="http://schemas.microsoft.com/office/drawing/2014/main" id="{FC9A2724-1FCB-ED13-9401-ABE355744AFA}"/>
              </a:ext>
            </a:extLst>
          </p:cNvPr>
          <p:cNvSpPr/>
          <p:nvPr/>
        </p:nvSpPr>
        <p:spPr>
          <a:xfrm>
            <a:off x="305495" y="3876226"/>
            <a:ext cx="3383280" cy="347472"/>
          </a:xfrm>
          <a:prstGeom prst="roundRect">
            <a:avLst>
              <a:gd name="adj" fmla="val 31579"/>
            </a:avLst>
          </a:prstGeom>
          <a:solidFill>
            <a:srgbClr val="2563EB">
              <a:alpha val="93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37" name="Text 28">
            <a:extLst>
              <a:ext uri="{FF2B5EF4-FFF2-40B4-BE49-F238E27FC236}">
                <a16:creationId xmlns:a16="http://schemas.microsoft.com/office/drawing/2014/main" id="{2A091789-1227-6572-B3BA-41953EDE0B2E}"/>
              </a:ext>
            </a:extLst>
          </p:cNvPr>
          <p:cNvSpPr/>
          <p:nvPr/>
        </p:nvSpPr>
        <p:spPr>
          <a:xfrm>
            <a:off x="305495" y="3940234"/>
            <a:ext cx="3383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chemeClr val="bg1"/>
                </a:solidFill>
              </a:rPr>
              <a:t>Написать </a:t>
            </a:r>
            <a:r>
              <a:rPr lang="ru-RU" sz="1050" b="1" dirty="0" err="1">
                <a:solidFill>
                  <a:schemeClr val="bg1"/>
                </a:solidFill>
              </a:rPr>
              <a:t>просую</a:t>
            </a:r>
            <a:r>
              <a:rPr lang="ru-RU" sz="1050" b="1" dirty="0">
                <a:solidFill>
                  <a:schemeClr val="bg1"/>
                </a:solidFill>
              </a:rPr>
              <a:t> и важную заметку</a:t>
            </a:r>
            <a:endParaRPr lang="en-US" sz="105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2606040" y="182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AS‑IS, часть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95935" y="1212272"/>
            <a:ext cx="1086093" cy="406630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Гипотеза → правка Unity → сборка → публикация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04</a:t>
            </a:r>
            <a:endParaRPr lang="en-US" sz="900" dirty="0"/>
          </a:p>
        </p:txBody>
      </p:sp>
      <p:pic>
        <p:nvPicPr>
          <p:cNvPr id="12" name="Image 0" descr="/mnt/data/extracted_media/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165" y="527843"/>
            <a:ext cx="9689458" cy="61472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AS‑IS, часть 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435244" y="1021495"/>
            <a:ext cx="1264920" cy="481500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Метрика → сравнение → решение → новая публикация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05</a:t>
            </a:r>
            <a:endParaRPr lang="en-US" sz="900" dirty="0"/>
          </a:p>
        </p:txBody>
      </p:sp>
      <p:pic>
        <p:nvPicPr>
          <p:cNvPr id="12" name="Image 0" descr="/mnt/data/extracted_media/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93" y="543082"/>
            <a:ext cx="9395640" cy="61548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TO‑BE, часть 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512064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Настройка приложения, эксперимента и вариантов A/B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06</a:t>
            </a:r>
            <a:endParaRPr lang="en-US" sz="900" dirty="0"/>
          </a:p>
        </p:txBody>
      </p:sp>
      <p:pic>
        <p:nvPicPr>
          <p:cNvPr id="12" name="Image 0" descr="/mnt/data/extracted_media/imag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206" y="821426"/>
            <a:ext cx="11483281" cy="55610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6" name="Text 4"/>
          <p:cNvSpPr/>
          <p:nvPr/>
        </p:nvSpPr>
        <p:spPr>
          <a:xfrm>
            <a:off x="2606040" y="182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TO‑BE, часть 2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512064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Unity получает параметр, Метрика собирает события, победитель применяется в рабочие значения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07</a:t>
            </a:r>
            <a:endParaRPr lang="en-US" sz="900" dirty="0"/>
          </a:p>
        </p:txBody>
      </p:sp>
      <p:pic>
        <p:nvPicPr>
          <p:cNvPr id="12" name="Image 0" descr="/mnt/data/extracted_media/imag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524" y="786384"/>
            <a:ext cx="10712646" cy="58529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Что было создано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Компоненты разработанной информационной системы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4360" y="1353312"/>
            <a:ext cx="49834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868680" y="1453896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033"/>
                </a:solidFill>
              </a:rPr>
              <a:t>Админ‑панель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697480" y="145389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2748A"/>
                </a:solidFill>
              </a:rPr>
              <a:t>управление приложениями, параметрами и экспериментами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94360" y="2066544"/>
            <a:ext cx="49834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868680" y="2167128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033"/>
                </a:solidFill>
              </a:rPr>
              <a:t>Backend API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2697480" y="216712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2748A"/>
                </a:solidFill>
              </a:rPr>
              <a:t>выдача параметров и логика A/B‑теста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94360" y="2779776"/>
            <a:ext cx="49834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868680" y="2880360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033"/>
                </a:solidFill>
              </a:rPr>
              <a:t>PostgreSQL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697480" y="2880360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2748A"/>
                </a:solidFill>
              </a:rPr>
              <a:t>аккаунты, приложения, параметры, эксперименты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3493008"/>
            <a:ext cx="49834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868680" y="3593592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033"/>
                </a:solidFill>
              </a:rPr>
              <a:t>Unity C#‑модуль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697480" y="3593592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2748A"/>
                </a:solidFill>
              </a:rPr>
              <a:t>получение параметров и fallback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94360" y="4206240"/>
            <a:ext cx="49834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868680" y="4306824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033"/>
                </a:solidFill>
              </a:rPr>
              <a:t>Яндекс Метрика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697480" y="430682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2748A"/>
                </a:solidFill>
              </a:rPr>
              <a:t>события с experiment_id и variant_code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94360" y="4919472"/>
            <a:ext cx="49834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868680" y="5020056"/>
            <a:ext cx="1691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02033"/>
                </a:solidFill>
              </a:rPr>
              <a:t>Object Storage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2697480" y="5020056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62748A"/>
                </a:solidFill>
              </a:rPr>
              <a:t>хранение иконок приложений</a:t>
            </a:r>
            <a:endParaRPr lang="en-US" sz="1050" dirty="0"/>
          </a:p>
        </p:txBody>
      </p:sp>
      <p:pic>
        <p:nvPicPr>
          <p:cNvPr id="30" name="Image 0" descr="/mnt/data/extracted_media/image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9677" y="1357296"/>
            <a:ext cx="5930179" cy="3418366"/>
          </a:xfrm>
          <a:prstGeom prst="roundRect">
            <a:avLst>
              <a:gd name="adj" fmla="val 3044"/>
            </a:avLst>
          </a:prstGeom>
        </p:spPr>
      </p:pic>
      <p:sp>
        <p:nvSpPr>
          <p:cNvPr id="31" name="Shape 28"/>
          <p:cNvSpPr/>
          <p:nvPr/>
        </p:nvSpPr>
        <p:spPr>
          <a:xfrm>
            <a:off x="5919677" y="1353312"/>
            <a:ext cx="5930180" cy="3422350"/>
          </a:xfrm>
          <a:prstGeom prst="roundRect">
            <a:avLst>
              <a:gd name="adj" fmla="val 33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448FFE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2" name="Text 29"/>
          <p:cNvSpPr/>
          <p:nvPr/>
        </p:nvSpPr>
        <p:spPr>
          <a:xfrm>
            <a:off x="6690207" y="49834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2748A"/>
                </a:solidFill>
              </a:rPr>
              <a:t>Список рабочих параметров приложения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06040" y="182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Инфологическая модель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54480" y="512064"/>
            <a:ext cx="9144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Основные сущности предметной области и связи между ними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09</a:t>
            </a:r>
            <a:endParaRPr lang="en-US" sz="900" dirty="0"/>
          </a:p>
        </p:txBody>
      </p:sp>
      <p:pic>
        <p:nvPicPr>
          <p:cNvPr id="12" name="Image 0" descr="/mnt/data/extracted_media/image6.png"/>
          <p:cNvPicPr>
            <a:picLocks noChangeAspect="1"/>
          </p:cNvPicPr>
          <p:nvPr/>
        </p:nvPicPr>
        <p:blipFill>
          <a:blip r:embed="rId3"/>
          <a:srcRect l="1143" t="5576" r="1460" b="4896"/>
          <a:stretch>
            <a:fillRect/>
          </a:stretch>
        </p:blipFill>
        <p:spPr>
          <a:xfrm>
            <a:off x="566928" y="1724614"/>
            <a:ext cx="10909900" cy="2549236"/>
          </a:xfrm>
          <a:prstGeom prst="roundRect">
            <a:avLst>
              <a:gd name="adj" fmla="val 8328"/>
            </a:avLst>
          </a:prstGeom>
          <a:ln w="19050">
            <a:solidFill>
              <a:srgbClr val="BDD7FC"/>
            </a:solidFill>
          </a:ln>
        </p:spPr>
      </p:pic>
      <p:sp>
        <p:nvSpPr>
          <p:cNvPr id="13" name="Text 10"/>
          <p:cNvSpPr/>
          <p:nvPr/>
        </p:nvSpPr>
        <p:spPr>
          <a:xfrm>
            <a:off x="982980" y="4933326"/>
            <a:ext cx="10287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2748A"/>
                </a:solidFill>
              </a:rPr>
              <a:t>Ключевые сущности: аккаунт администратора, приложение, параметр, эксперимент, параметр эксперимента, назначение варианта пользователю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ru-RU" sz="2600" b="1" dirty="0">
                <a:solidFill>
                  <a:srgbClr val="102033"/>
                </a:solidFill>
              </a:rPr>
              <a:t>Д</a:t>
            </a:r>
            <a:r>
              <a:rPr lang="en-US" sz="2600" b="1" dirty="0" err="1">
                <a:solidFill>
                  <a:srgbClr val="102033"/>
                </a:solidFill>
              </a:rPr>
              <a:t>аталогическая</a:t>
            </a:r>
            <a:r>
              <a:rPr lang="en-US" sz="2600" b="1" dirty="0">
                <a:solidFill>
                  <a:srgbClr val="102033"/>
                </a:solidFill>
              </a:rPr>
              <a:t> модель PostgreSQL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Таблицы, ограничения и связи хранения данных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10</a:t>
            </a:r>
            <a:endParaRPr lang="en-US" sz="900" dirty="0"/>
          </a:p>
        </p:txBody>
      </p:sp>
      <p:pic>
        <p:nvPicPr>
          <p:cNvPr id="12" name="Image 0" descr="/mnt/data/extracted_media/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516" y="1325880"/>
            <a:ext cx="10620209" cy="4553712"/>
          </a:xfrm>
          <a:prstGeom prst="roundRect">
            <a:avLst>
              <a:gd name="adj" fmla="val 2824"/>
            </a:avLst>
          </a:prstGeom>
          <a:ln w="19050">
            <a:solidFill>
              <a:srgbClr val="BDD7F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64622" y="1076083"/>
            <a:ext cx="3746269" cy="15048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UML Use Case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80456" y="2226565"/>
            <a:ext cx="2818015" cy="286096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Границы системы и основные сценарии взаимодействия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11</a:t>
            </a:r>
            <a:endParaRPr lang="en-US" sz="900" dirty="0"/>
          </a:p>
        </p:txBody>
      </p:sp>
      <p:pic>
        <p:nvPicPr>
          <p:cNvPr id="12" name="Image 0" descr="/mnt/data/extracted_media/im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927" y="155448"/>
            <a:ext cx="7293033" cy="6469796"/>
          </a:xfrm>
          <a:prstGeom prst="rect">
            <a:avLst/>
          </a:prstGeom>
        </p:spPr>
      </p:pic>
      <p:sp>
        <p:nvSpPr>
          <p:cNvPr id="13" name="Овал 12">
            <a:extLst>
              <a:ext uri="{FF2B5EF4-FFF2-40B4-BE49-F238E27FC236}">
                <a16:creationId xmlns:a16="http://schemas.microsoft.com/office/drawing/2014/main" id="{E90E5CA9-345B-3D69-B2FE-BC94E037CB5E}"/>
              </a:ext>
            </a:extLst>
          </p:cNvPr>
          <p:cNvSpPr/>
          <p:nvPr/>
        </p:nvSpPr>
        <p:spPr>
          <a:xfrm>
            <a:off x="6912171" y="4135582"/>
            <a:ext cx="1468582" cy="415636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>
              <a:ln>
                <a:solidFill>
                  <a:srgbClr val="FF0000"/>
                </a:solidFill>
              </a:ln>
              <a:noFill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813962" y="155863"/>
            <a:ext cx="3219797" cy="186994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UML диаграмма классов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890696" y="2389633"/>
            <a:ext cx="4685608" cy="35955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Клиент, контроллер, сервис параметров и сущности предметной области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12</a:t>
            </a:r>
            <a:endParaRPr lang="en-US" sz="900" dirty="0"/>
          </a:p>
        </p:txBody>
      </p:sp>
      <p:pic>
        <p:nvPicPr>
          <p:cNvPr id="12" name="Image 0" descr="/mnt/data/extracted_media/imag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818388"/>
            <a:ext cx="525322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75488" y="742187"/>
            <a:ext cx="2374669" cy="298981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UML диаграмма последовательности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20040" y="1793609"/>
            <a:ext cx="2707178" cy="47872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Сценарий получения параметра Unity HTML5‑клиентом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13</a:t>
            </a:r>
            <a:endParaRPr lang="en-US" sz="900" dirty="0"/>
          </a:p>
        </p:txBody>
      </p:sp>
      <p:pic>
        <p:nvPicPr>
          <p:cNvPr id="12" name="Image 0" descr="/mnt/data/extracted_media/image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4245" y="44565"/>
            <a:ext cx="8570699" cy="676887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11480" y="946263"/>
            <a:ext cx="3041102" cy="26884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UML диаграмма компонентов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11480" y="2999509"/>
            <a:ext cx="3041102" cy="328241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Админ‑панель, Unity‑клиент, Backend API, PostgreSQL и внешние сервисы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14</a:t>
            </a:r>
            <a:endParaRPr lang="en-US" sz="900" dirty="0"/>
          </a:p>
        </p:txBody>
      </p:sp>
      <p:pic>
        <p:nvPicPr>
          <p:cNvPr id="12" name="Image 0" descr="/mnt/data/extracted_media/im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8499" y="737754"/>
            <a:ext cx="8047279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320040" y="16459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320040" y="169164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4088" y="155448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1215043"/>
            <a:ext cx="2762596" cy="30313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02033"/>
                </a:solidFill>
              </a:rPr>
              <a:t>UML диаграмма развертывания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01936" y="3040519"/>
            <a:ext cx="3765665" cy="316631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Физическое размещение компонентов и каналов обмена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15</a:t>
            </a:r>
            <a:endParaRPr lang="en-US" sz="900" dirty="0"/>
          </a:p>
        </p:txBody>
      </p:sp>
      <p:pic>
        <p:nvPicPr>
          <p:cNvPr id="12" name="Image 0" descr="/mnt/data/extracted_media/imag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9537" y="436003"/>
            <a:ext cx="7846922" cy="584190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Unity: инициализация плагина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Клиент ждёт готовность SDK, получает user_id и запускает сервис параметров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463040" y="1920240"/>
            <a:ext cx="0" cy="73152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1463040" y="3246120"/>
            <a:ext cx="0" cy="73152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1463040" y="4572000"/>
            <a:ext cx="0" cy="731520"/>
          </a:xfrm>
          <a:prstGeom prst="line">
            <a:avLst/>
          </a:prstGeom>
          <a:noFill/>
          <a:ln w="15240">
            <a:solidFill>
              <a:srgbClr val="2563E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3"/>
          <p:cNvSpPr/>
          <p:nvPr/>
        </p:nvSpPr>
        <p:spPr>
          <a:xfrm>
            <a:off x="685800" y="141732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758952" y="1490472"/>
            <a:ext cx="1408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Загрузка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WebGL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269748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8" name="Text 16"/>
          <p:cNvSpPr/>
          <p:nvPr/>
        </p:nvSpPr>
        <p:spPr>
          <a:xfrm>
            <a:off x="758952" y="2770632"/>
            <a:ext cx="1408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Ожидание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Mirra SDK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397764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758952" y="4050792"/>
            <a:ext cx="1408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Получение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user_id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85800" y="5257800"/>
            <a:ext cx="155448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758952" y="5330952"/>
            <a:ext cx="1408176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Инициализация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02033"/>
                </a:solidFill>
              </a:rPr>
              <a:t>сервиса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788920" y="1280160"/>
            <a:ext cx="2880360" cy="475488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4" name="Text 22"/>
          <p:cNvSpPr/>
          <p:nvPr/>
        </p:nvSpPr>
        <p:spPr>
          <a:xfrm>
            <a:off x="2939796" y="1348739"/>
            <a:ext cx="2578608" cy="623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>
                <a:solidFill>
                  <a:srgbClr val="102033"/>
                </a:solidFill>
              </a:rPr>
              <a:t>Как происходит инициализация</a:t>
            </a:r>
            <a:r>
              <a:rPr lang="en-US" sz="1600" b="1" dirty="0">
                <a:solidFill>
                  <a:srgbClr val="102033"/>
                </a:solidFill>
              </a:rPr>
              <a:t>?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063240" y="2148840"/>
            <a:ext cx="233172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250" dirty="0" err="1">
                <a:solidFill>
                  <a:srgbClr val="62748A"/>
                </a:solidFill>
              </a:rPr>
              <a:t>Клиент</a:t>
            </a:r>
            <a:r>
              <a:rPr lang="en-US" sz="1250" dirty="0">
                <a:solidFill>
                  <a:srgbClr val="62748A"/>
                </a:solidFill>
              </a:rPr>
              <a:t> не обращается к БД напрямую. Он получает стабильный идентификатор пользователя и передаёт его в backend API для закрепления варианта A/B‑теста.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080760" y="1325880"/>
            <a:ext cx="5440680" cy="4480560"/>
          </a:xfrm>
          <a:prstGeom prst="roundRect">
            <a:avLst>
              <a:gd name="adj" fmla="val 2041"/>
            </a:avLst>
          </a:prstGeom>
          <a:solidFill>
            <a:srgbClr val="0B1220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Shape 25"/>
          <p:cNvSpPr/>
          <p:nvPr/>
        </p:nvSpPr>
        <p:spPr>
          <a:xfrm>
            <a:off x="6080760" y="1325880"/>
            <a:ext cx="544068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6217920" y="139446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C#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309360" y="1764792"/>
            <a:ext cx="4983480" cy="39776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WaitForMirraSdk(StartAfterMirraSdkReady);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parameterService.Initialize(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ResolveApiBaseUrl(),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applicationId,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userId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);</a:t>
            </a:r>
            <a:endParaRPr lang="en-US" sz="1450" dirty="0"/>
          </a:p>
          <a:p>
            <a:pPr marL="0" indent="0">
              <a:buNone/>
            </a:pPr>
            <a:endParaRPr lang="en-US" sz="1450" dirty="0"/>
          </a:p>
          <a:p>
            <a:pPr marL="0" indent="0">
              <a:buNone/>
            </a:pPr>
            <a:r>
              <a:rPr lang="ru-RU" sz="1450" dirty="0" err="1">
                <a:solidFill>
                  <a:srgbClr val="FFFFFF"/>
                </a:solidFill>
                <a:latin typeface="Consolas" pitchFamily="34" charset="0"/>
              </a:rPr>
              <a:t>ЗапроситьЗначенияПараметров</a:t>
            </a:r>
            <a:r>
              <a:rPr lang="ru-RU" sz="1450" dirty="0">
                <a:solidFill>
                  <a:srgbClr val="FFFFFF"/>
                </a:solidFill>
                <a:latin typeface="Consolas" pitchFamily="34" charset="0"/>
              </a:rPr>
              <a:t>()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Unity: получение параметра и fallback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Если сервер не вернул значение, клиент использует локальное значение по умолчанию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17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868680" y="1444752"/>
            <a:ext cx="6629400" cy="1920240"/>
          </a:xfrm>
          <a:prstGeom prst="roundRect">
            <a:avLst>
              <a:gd name="adj" fmla="val 4762"/>
            </a:avLst>
          </a:prstGeom>
          <a:solidFill>
            <a:srgbClr val="0B1220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868680" y="1444752"/>
            <a:ext cx="662940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1005840" y="1513332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C#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97280" y="1883664"/>
            <a:ext cx="61722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parameterService.GetFloat(</a:t>
            </a:r>
            <a:r>
              <a:rPr lang="en-US" sz="1800" b="1" dirty="0">
                <a:solidFill>
                  <a:srgbClr val="FACC1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"item_2_price"</a:t>
            </a: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r>
              <a:rPr lang="en-US" sz="18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0.5f</a:t>
            </a: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value =&gt;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SetItemPrice(value);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});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05840" y="3886200"/>
            <a:ext cx="2834640" cy="1170432"/>
          </a:xfrm>
          <a:prstGeom prst="roundRect">
            <a:avLst>
              <a:gd name="adj" fmla="val 1171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1225296" y="40965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2400E"/>
                </a:solidFill>
              </a:rPr>
              <a:t>item_2_price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448056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2400E"/>
                </a:solidFill>
              </a:rPr>
              <a:t>строковый ключ параметра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17720" y="3886200"/>
            <a:ext cx="2331720" cy="1170432"/>
          </a:xfrm>
          <a:prstGeom prst="roundRect">
            <a:avLst>
              <a:gd name="adj" fmla="val 11719"/>
            </a:avLst>
          </a:prstGeom>
          <a:solidFill>
            <a:srgbClr val="DBEAFE"/>
          </a:solidFill>
          <a:ln w="1270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4901184" y="4096512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563EB"/>
                </a:solidFill>
              </a:rPr>
              <a:t>0.5f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846320" y="448056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2563EB"/>
                </a:solidFill>
              </a:rPr>
              <a:t>fallback‑значение</a:t>
            </a:r>
            <a:endParaRPr lang="en-US" sz="1050" dirty="0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DCAEE638-B99C-5CC7-C830-D04A86400811}"/>
              </a:ext>
            </a:extLst>
          </p:cNvPr>
          <p:cNvSpPr/>
          <p:nvPr/>
        </p:nvSpPr>
        <p:spPr>
          <a:xfrm>
            <a:off x="8375904" y="955548"/>
            <a:ext cx="2880360" cy="4754880"/>
          </a:xfrm>
          <a:prstGeom prst="roundRect">
            <a:avLst>
              <a:gd name="adj" fmla="val 5714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5DB9E488-9521-0009-BAB3-6030785B6F14}"/>
              </a:ext>
            </a:extLst>
          </p:cNvPr>
          <p:cNvSpPr/>
          <p:nvPr/>
        </p:nvSpPr>
        <p:spPr>
          <a:xfrm>
            <a:off x="8526780" y="1047610"/>
            <a:ext cx="2578608" cy="6234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600" b="1" dirty="0">
                <a:solidFill>
                  <a:srgbClr val="102033"/>
                </a:solidFill>
              </a:rPr>
              <a:t>Зачем </a:t>
            </a:r>
            <a:r>
              <a:rPr lang="en-US" sz="1600" b="1" dirty="0">
                <a:solidFill>
                  <a:srgbClr val="102033"/>
                </a:solidFill>
              </a:rPr>
              <a:t>fallback </a:t>
            </a:r>
            <a:r>
              <a:rPr lang="ru-RU" sz="1600" b="1" dirty="0">
                <a:solidFill>
                  <a:srgbClr val="102033"/>
                </a:solidFill>
              </a:rPr>
              <a:t>значение</a:t>
            </a:r>
            <a:r>
              <a:rPr lang="en-US" sz="1600" b="1" dirty="0">
                <a:solidFill>
                  <a:srgbClr val="102033"/>
                </a:solidFill>
              </a:rPr>
              <a:t>?</a:t>
            </a:r>
            <a:endParaRPr lang="en-US" sz="1600" dirty="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A348E00-C77D-836F-1DA1-76C7A0835DA0}"/>
              </a:ext>
            </a:extLst>
          </p:cNvPr>
          <p:cNvSpPr/>
          <p:nvPr/>
        </p:nvSpPr>
        <p:spPr>
          <a:xfrm>
            <a:off x="8650224" y="1824228"/>
            <a:ext cx="2331720" cy="3291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ru-RU" sz="1250" dirty="0">
                <a:solidFill>
                  <a:srgbClr val="62748A"/>
                </a:solidFill>
              </a:rPr>
              <a:t>В случае ошибки, написания неправильного ключа параметра или отсутствия </a:t>
            </a:r>
            <a:r>
              <a:rPr lang="en-US" sz="1250" dirty="0">
                <a:solidFill>
                  <a:srgbClr val="62748A"/>
                </a:solidFill>
              </a:rPr>
              <a:t>id</a:t>
            </a:r>
            <a:r>
              <a:rPr lang="ru-RU" sz="1250" dirty="0">
                <a:solidFill>
                  <a:srgbClr val="62748A"/>
                </a:solidFill>
              </a:rPr>
              <a:t> приложения в системе, устанавливается значение используемое по умолчанию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JSON‑ответ API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Сервер возвращает источник значения и контекст эксперимента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18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6868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Успешный ответ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68680" y="1600200"/>
            <a:ext cx="5074920" cy="393192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868680" y="1600200"/>
            <a:ext cx="507492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Text 13"/>
          <p:cNvSpPr/>
          <p:nvPr/>
        </p:nvSpPr>
        <p:spPr>
          <a:xfrm>
            <a:off x="1005840" y="166878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C#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1097280" y="2039112"/>
            <a:ext cx="4617720" cy="3429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"found": true,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"parameter_key": "item_2_price",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"parameter_type": "float",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"parameter_value": 0.33,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"source": "ab_test",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"experiment_id": 1,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"variant_code": "B",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"use_fallback": false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0" y="12344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Fallback‑ответ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5074920" cy="3931920"/>
          </a:xfrm>
          <a:prstGeom prst="roundRect">
            <a:avLst>
              <a:gd name="adj" fmla="val 2326"/>
            </a:avLst>
          </a:prstGeom>
          <a:solidFill>
            <a:srgbClr val="0B1220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Shape 17"/>
          <p:cNvSpPr/>
          <p:nvPr/>
        </p:nvSpPr>
        <p:spPr>
          <a:xfrm>
            <a:off x="6400800" y="1600200"/>
            <a:ext cx="507492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6537960" y="166878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C#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6629400" y="2039112"/>
            <a:ext cx="4617720" cy="34290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"found": false,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"parameter_key": "item_2_price",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"source_reason": "unknown_parameter_key",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"use_fallback": true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1417320" y="5806440"/>
            <a:ext cx="4114800" cy="347472"/>
          </a:xfrm>
          <a:prstGeom prst="roundRect">
            <a:avLst>
              <a:gd name="adj" fmla="val 31579"/>
            </a:avLst>
          </a:prstGeom>
          <a:solidFill>
            <a:srgbClr val="2563EB">
              <a:alpha val="93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1417320" y="58704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rgbClr val="FFFFFF"/>
                </a:solidFill>
              </a:rPr>
              <a:t>Эксперимент найден. Вариант </a:t>
            </a:r>
            <a:r>
              <a:rPr lang="en-US" sz="1050" b="1" dirty="0">
                <a:solidFill>
                  <a:srgbClr val="FFFFFF"/>
                </a:solidFill>
              </a:rPr>
              <a:t>B</a:t>
            </a:r>
            <a:r>
              <a:rPr lang="ru-RU" sz="1050" b="1" dirty="0">
                <a:solidFill>
                  <a:srgbClr val="FFFFFF"/>
                </a:solidFill>
              </a:rPr>
              <a:t>, равный 0.33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995160" y="5806440"/>
            <a:ext cx="3474720" cy="347472"/>
          </a:xfrm>
          <a:prstGeom prst="roundRect">
            <a:avLst>
              <a:gd name="adj" fmla="val 31579"/>
            </a:avLst>
          </a:prstGeom>
          <a:solidFill>
            <a:srgbClr val="F59E0B">
              <a:alpha val="93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6995160" y="587044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050" b="1" dirty="0">
                <a:solidFill>
                  <a:srgbClr val="FFFFFF"/>
                </a:solidFill>
              </a:rPr>
              <a:t>Значение не найдено. </a:t>
            </a:r>
            <a:r>
              <a:rPr lang="en-US" sz="1050" b="1" dirty="0">
                <a:solidFill>
                  <a:srgbClr val="FFFFFF"/>
                </a:solidFill>
              </a:rPr>
              <a:t>Fallback-</a:t>
            </a:r>
            <a:r>
              <a:rPr lang="ru-RU" sz="1050" b="1" dirty="0">
                <a:solidFill>
                  <a:srgbClr val="FFFFFF"/>
                </a:solidFill>
              </a:rPr>
              <a:t>значение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Отправка в Яндекс Метрику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Клиент передаёт событие с параметром и вариантом эксперимента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19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77240" y="1417320"/>
            <a:ext cx="5623560" cy="4160520"/>
          </a:xfrm>
          <a:prstGeom prst="roundRect">
            <a:avLst>
              <a:gd name="adj" fmla="val 2198"/>
            </a:avLst>
          </a:prstGeom>
          <a:solidFill>
            <a:srgbClr val="0B1220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777240" y="1417320"/>
            <a:ext cx="5623560" cy="29260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Text 12"/>
          <p:cNvSpPr/>
          <p:nvPr/>
        </p:nvSpPr>
        <p:spPr>
          <a:xfrm>
            <a:off x="914400" y="1485900"/>
            <a:ext cx="457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94A3B8"/>
                </a:solidFill>
              </a:rPr>
              <a:t>C#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05840" y="1856232"/>
            <a:ext cx="5166360" cy="36576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TrackGoal("experiment_exposure",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new Dictionary&lt;string, object&gt;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["parameter_key"] = context.ParameterKey,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["variant_code"] = context.VariantCode,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["experiment_id"] = context.ExperimentId</a:t>
            </a:r>
            <a:endParaRPr lang="en-US" sz="1280" dirty="0"/>
          </a:p>
          <a:p>
            <a:pPr marL="0" indent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});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7269480" y="1965960"/>
            <a:ext cx="1188720" cy="0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7" name="Shape 15"/>
          <p:cNvSpPr/>
          <p:nvPr/>
        </p:nvSpPr>
        <p:spPr>
          <a:xfrm>
            <a:off x="9464040" y="1965960"/>
            <a:ext cx="1097280" cy="0"/>
          </a:xfrm>
          <a:prstGeom prst="line">
            <a:avLst/>
          </a:prstGeom>
          <a:noFill/>
          <a:ln w="15240">
            <a:solidFill>
              <a:srgbClr val="F59E0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ru-RU"/>
          </a:p>
        </p:txBody>
      </p:sp>
      <p:sp>
        <p:nvSpPr>
          <p:cNvPr id="18" name="Shape 16"/>
          <p:cNvSpPr/>
          <p:nvPr/>
        </p:nvSpPr>
        <p:spPr>
          <a:xfrm>
            <a:off x="6446520" y="1508760"/>
            <a:ext cx="14173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6519672" y="1581912"/>
            <a:ext cx="1271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102033"/>
                </a:solidFill>
              </a:rPr>
              <a:t>Параметр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02033"/>
                </a:solidFill>
              </a:rPr>
              <a:t>применён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1508760"/>
            <a:ext cx="141732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1" name="Text 19"/>
          <p:cNvSpPr/>
          <p:nvPr/>
        </p:nvSpPr>
        <p:spPr>
          <a:xfrm>
            <a:off x="8348472" y="1581912"/>
            <a:ext cx="12710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150" dirty="0">
                <a:solidFill>
                  <a:srgbClr val="102033"/>
                </a:solidFill>
              </a:rPr>
              <a:t>Событие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dirty="0">
                <a:solidFill>
                  <a:srgbClr val="102033"/>
                </a:solidFill>
              </a:rPr>
              <a:t>отправлено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10378440" y="1389888"/>
            <a:ext cx="141732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1397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10451592" y="1463040"/>
            <a:ext cx="127101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02033"/>
                </a:solidFill>
              </a:rPr>
              <a:t>Варианты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02033"/>
                </a:solidFill>
              </a:rPr>
              <a:t>сравниваются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02033"/>
                </a:solidFill>
              </a:rPr>
              <a:t>в Метрике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0" y="3657600"/>
            <a:ext cx="4983480" cy="1325880"/>
          </a:xfrm>
          <a:prstGeom prst="roundRect">
            <a:avLst>
              <a:gd name="adj" fmla="val 12414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6812280" y="3977640"/>
            <a:ext cx="4526280" cy="5669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</a:rPr>
              <a:t>В базе хранятся настройки и назначения, а поведение пользователей анализируется во внешней аналитике.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Настройка эксперимента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Варианты A и B получают разные значения параметров при распределении 50/50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20</a:t>
            </a:r>
            <a:endParaRPr lang="en-US" sz="900" dirty="0"/>
          </a:p>
        </p:txBody>
      </p:sp>
      <p:pic>
        <p:nvPicPr>
          <p:cNvPr id="12" name="Image 0" descr="/mnt/data/extracted_media/image19.png"/>
          <p:cNvPicPr>
            <a:picLocks noChangeAspect="1"/>
          </p:cNvPicPr>
          <p:nvPr/>
        </p:nvPicPr>
        <p:blipFill>
          <a:blip r:embed="rId3"/>
          <a:srcRect r="2542"/>
          <a:stretch>
            <a:fillRect/>
          </a:stretch>
        </p:blipFill>
        <p:spPr>
          <a:xfrm>
            <a:off x="566928" y="1298448"/>
            <a:ext cx="7537981" cy="4498848"/>
          </a:xfrm>
          <a:prstGeom prst="roundRect">
            <a:avLst>
              <a:gd name="adj" fmla="val 2809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66927" y="1289304"/>
            <a:ext cx="7537981" cy="4507992"/>
          </a:xfrm>
          <a:prstGeom prst="roundRect">
            <a:avLst>
              <a:gd name="adj" fmla="val 2745"/>
            </a:avLst>
          </a:prstGeom>
          <a:solidFill>
            <a:srgbClr val="FFFFFF">
              <a:alpha val="0"/>
            </a:srgbClr>
          </a:solidFill>
          <a:ln w="12700">
            <a:solidFill>
              <a:srgbClr val="D9E6F7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1"/>
          <p:cNvSpPr/>
          <p:nvPr/>
        </p:nvSpPr>
        <p:spPr>
          <a:xfrm>
            <a:off x="8671835" y="824692"/>
            <a:ext cx="2985515" cy="563464"/>
          </a:xfrm>
          <a:prstGeom prst="roundRect">
            <a:avLst>
              <a:gd name="adj" fmla="val 31579"/>
            </a:avLst>
          </a:prstGeom>
          <a:solidFill>
            <a:srgbClr val="2563EB">
              <a:alpha val="93000"/>
            </a:srgbClr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 dirty="0"/>
          </a:p>
        </p:txBody>
      </p:sp>
      <p:sp>
        <p:nvSpPr>
          <p:cNvPr id="15" name="Text 12"/>
          <p:cNvSpPr/>
          <p:nvPr/>
        </p:nvSpPr>
        <p:spPr>
          <a:xfrm>
            <a:off x="8729261" y="877824"/>
            <a:ext cx="287066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1400" b="1" dirty="0">
                <a:solidFill>
                  <a:srgbClr val="FFFFFF"/>
                </a:solidFill>
              </a:rPr>
              <a:t>Изменения в эксперименте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8671835" y="1674182"/>
            <a:ext cx="1417320" cy="347472"/>
          </a:xfrm>
          <a:prstGeom prst="roundRect">
            <a:avLst>
              <a:gd name="adj" fmla="val 31579"/>
            </a:avLst>
          </a:prstGeom>
          <a:solidFill>
            <a:srgbClr val="F59E0B">
              <a:alpha val="93000"/>
            </a:srgbClr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4"/>
          <p:cNvSpPr/>
          <p:nvPr/>
        </p:nvSpPr>
        <p:spPr>
          <a:xfrm>
            <a:off x="8671835" y="173819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значения 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0240030" y="1674182"/>
            <a:ext cx="1417320" cy="347472"/>
          </a:xfrm>
          <a:prstGeom prst="roundRect">
            <a:avLst>
              <a:gd name="adj" fmla="val 31579"/>
            </a:avLst>
          </a:prstGeom>
          <a:solidFill>
            <a:srgbClr val="10B981">
              <a:alpha val="93000"/>
            </a:srgbClr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6"/>
          <p:cNvSpPr/>
          <p:nvPr/>
        </p:nvSpPr>
        <p:spPr>
          <a:xfrm>
            <a:off x="10240030" y="1738190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значения B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Пользователь: вариант A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Тот же билд, параметры варианта 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21</a:t>
            </a:r>
            <a:endParaRPr lang="en-US" sz="900" dirty="0"/>
          </a:p>
        </p:txBody>
      </p:sp>
      <p:pic>
        <p:nvPicPr>
          <p:cNvPr id="12" name="Image 0" descr="/mnt/data/extracted_media/image21.png"/>
          <p:cNvPicPr>
            <a:picLocks noChangeAspect="1"/>
          </p:cNvPicPr>
          <p:nvPr/>
        </p:nvPicPr>
        <p:blipFill>
          <a:blip r:embed="rId3"/>
          <a:srcRect t="1714"/>
          <a:stretch>
            <a:fillRect/>
          </a:stretch>
        </p:blipFill>
        <p:spPr>
          <a:xfrm>
            <a:off x="1820106" y="1380744"/>
            <a:ext cx="8567028" cy="471830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Пользователь: вариант B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Тот же билд, параметры варианта 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22</a:t>
            </a:r>
            <a:endParaRPr lang="en-US" sz="900" dirty="0"/>
          </a:p>
        </p:txBody>
      </p:sp>
      <p:pic>
        <p:nvPicPr>
          <p:cNvPr id="12" name="Image 0" descr="/mnt/data/extracted_media/image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0106" y="1298448"/>
            <a:ext cx="8567028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Экономика: трудозатраты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Сравнение базового и проектного вариантов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23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60120" y="1417320"/>
            <a:ext cx="6766560" cy="420624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Shape 11"/>
          <p:cNvSpPr/>
          <p:nvPr/>
        </p:nvSpPr>
        <p:spPr>
          <a:xfrm>
            <a:off x="1554480" y="4526280"/>
            <a:ext cx="548640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4" name="Shape 12"/>
          <p:cNvSpPr/>
          <p:nvPr/>
        </p:nvSpPr>
        <p:spPr>
          <a:xfrm>
            <a:off x="2011680" y="2194560"/>
            <a:ext cx="457200" cy="2331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5" name="Shape 13"/>
          <p:cNvSpPr/>
          <p:nvPr/>
        </p:nvSpPr>
        <p:spPr>
          <a:xfrm>
            <a:off x="2624328" y="3327110"/>
            <a:ext cx="457200" cy="119917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1600200" y="4754880"/>
            <a:ext cx="1874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одна проверка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600200" y="5029200"/>
            <a:ext cx="1874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033"/>
                </a:solidFill>
              </a:rPr>
              <a:t>7,0 ч  →  3,6 ч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4937760" y="2194560"/>
            <a:ext cx="457200" cy="2331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Shape 17"/>
          <p:cNvSpPr/>
          <p:nvPr/>
        </p:nvSpPr>
        <p:spPr>
          <a:xfrm>
            <a:off x="5550408" y="3327110"/>
            <a:ext cx="457200" cy="119917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0" name="Text 18"/>
          <p:cNvSpPr/>
          <p:nvPr/>
        </p:nvSpPr>
        <p:spPr>
          <a:xfrm>
            <a:off x="4480560" y="4754880"/>
            <a:ext cx="1965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48 проверок в год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389120" y="5029200"/>
            <a:ext cx="2148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102033"/>
                </a:solidFill>
              </a:rPr>
              <a:t>336 ч  →  172,8 ч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1645920" y="5330952"/>
            <a:ext cx="155448" cy="15544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1"/>
          <p:cNvSpPr/>
          <p:nvPr/>
        </p:nvSpPr>
        <p:spPr>
          <a:xfrm>
            <a:off x="1856232" y="53035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2748A"/>
                </a:solidFill>
              </a:rPr>
              <a:t>было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51760" y="5330952"/>
            <a:ext cx="155448" cy="1554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2862072" y="530352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2748A"/>
                </a:solidFill>
              </a:rPr>
              <a:t>стало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412480" y="1627632"/>
            <a:ext cx="2926080" cy="2011680"/>
          </a:xfrm>
          <a:prstGeom prst="roundRect">
            <a:avLst>
              <a:gd name="adj" fmla="val 8182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7" name="Text 25"/>
          <p:cNvSpPr/>
          <p:nvPr/>
        </p:nvSpPr>
        <p:spPr>
          <a:xfrm>
            <a:off x="8595360" y="201168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563EB"/>
                </a:solidFill>
              </a:rPr>
              <a:t>−48,6%</a:t>
            </a:r>
            <a:endParaRPr lang="en-US" sz="3400" dirty="0"/>
          </a:p>
        </p:txBody>
      </p:sp>
      <p:sp>
        <p:nvSpPr>
          <p:cNvPr id="28" name="Text 26"/>
          <p:cNvSpPr/>
          <p:nvPr/>
        </p:nvSpPr>
        <p:spPr>
          <a:xfrm>
            <a:off x="8686800" y="276148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</a:rPr>
              <a:t>снижение повторяющихся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102033"/>
                </a:solidFill>
              </a:rPr>
              <a:t>трудозатрат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412480" y="3977640"/>
            <a:ext cx="2926080" cy="11430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0" name="Text 28"/>
          <p:cNvSpPr/>
          <p:nvPr/>
        </p:nvSpPr>
        <p:spPr>
          <a:xfrm>
            <a:off x="8641080" y="418795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2748A"/>
                </a:solidFill>
              </a:rPr>
              <a:t>Индекс производительности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41080" y="449884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02033"/>
                </a:solidFill>
              </a:rPr>
              <a:t>1,94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411480" y="14630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411480" y="150876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95528" y="1371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53035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02033"/>
                </a:solidFill>
              </a:rPr>
              <a:t>Экономика: денежный эффект и окупаемость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12064" y="932688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2748A"/>
                </a:solidFill>
              </a:rPr>
              <a:t>Финансовая панель KPI проекта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24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85800" y="1417320"/>
            <a:ext cx="3246120" cy="12344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822960" y="1737360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</a:rPr>
              <a:t>122 400 ₽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14400" y="217627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экономия трудозатрат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434840" y="1417320"/>
            <a:ext cx="3246120" cy="12344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6" name="Text 14"/>
          <p:cNvSpPr/>
          <p:nvPr/>
        </p:nvSpPr>
        <p:spPr>
          <a:xfrm>
            <a:off x="4572000" y="1737360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59E0B"/>
                </a:solidFill>
              </a:rPr>
              <a:t>33 900 ₽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4663440" y="217627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эксплуатационные затраты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83880" y="1417320"/>
            <a:ext cx="3246120" cy="12344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9" name="Text 17"/>
          <p:cNvSpPr/>
          <p:nvPr/>
        </p:nvSpPr>
        <p:spPr>
          <a:xfrm>
            <a:off x="8321040" y="1737360"/>
            <a:ext cx="2971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0B981"/>
                </a:solidFill>
              </a:rPr>
              <a:t>88 500 ₽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8412480" y="2176272"/>
            <a:ext cx="2788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2748A"/>
                </a:solidFill>
              </a:rPr>
              <a:t>годовой эффект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246120"/>
            <a:ext cx="1993392" cy="1078992"/>
          </a:xfrm>
          <a:prstGeom prst="roundRect">
            <a:avLst>
              <a:gd name="adj" fmla="val 13559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2" name="Text 20"/>
          <p:cNvSpPr/>
          <p:nvPr/>
        </p:nvSpPr>
        <p:spPr>
          <a:xfrm>
            <a:off x="731520" y="349300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</a:rPr>
              <a:t>116 475 ₽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31520" y="3858768"/>
            <a:ext cx="1810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2748A"/>
                </a:solidFill>
              </a:rPr>
              <a:t>вложения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907792" y="3246120"/>
            <a:ext cx="1993392" cy="1078992"/>
          </a:xfrm>
          <a:prstGeom prst="roundRect">
            <a:avLst>
              <a:gd name="adj" fmla="val 13559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5" name="Text 23"/>
          <p:cNvSpPr/>
          <p:nvPr/>
        </p:nvSpPr>
        <p:spPr>
          <a:xfrm>
            <a:off x="2999232" y="349300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2033"/>
                </a:solidFill>
              </a:rPr>
              <a:t>1,32 года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2999232" y="3858768"/>
            <a:ext cx="1810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2748A"/>
                </a:solidFill>
              </a:rPr>
              <a:t>окупаемость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175504" y="3246120"/>
            <a:ext cx="1993392" cy="1078992"/>
          </a:xfrm>
          <a:prstGeom prst="roundRect">
            <a:avLst>
              <a:gd name="adj" fmla="val 13559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8" name="Text 26"/>
          <p:cNvSpPr/>
          <p:nvPr/>
        </p:nvSpPr>
        <p:spPr>
          <a:xfrm>
            <a:off x="5266944" y="349300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</a:rPr>
              <a:t>103 611 ₽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5266944" y="3858768"/>
            <a:ext cx="1810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2748A"/>
                </a:solidFill>
              </a:rPr>
              <a:t>NPV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443216" y="3246120"/>
            <a:ext cx="1993392" cy="1078992"/>
          </a:xfrm>
          <a:prstGeom prst="roundRect">
            <a:avLst>
              <a:gd name="adj" fmla="val 13559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1" name="Text 29"/>
          <p:cNvSpPr/>
          <p:nvPr/>
        </p:nvSpPr>
        <p:spPr>
          <a:xfrm>
            <a:off x="7534656" y="349300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</a:rPr>
              <a:t>1,89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534656" y="3858768"/>
            <a:ext cx="1810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2748A"/>
                </a:solidFill>
              </a:rPr>
              <a:t>PI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710928" y="3246120"/>
            <a:ext cx="1993392" cy="1078992"/>
          </a:xfrm>
          <a:prstGeom prst="roundRect">
            <a:avLst>
              <a:gd name="adj" fmla="val 13559"/>
            </a:avLst>
          </a:prstGeom>
          <a:solidFill>
            <a:srgbClr val="EAF2FF"/>
          </a:solidFill>
          <a:ln w="12700">
            <a:solidFill>
              <a:srgbClr val="BBD4FF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4" name="Text 32"/>
          <p:cNvSpPr/>
          <p:nvPr/>
        </p:nvSpPr>
        <p:spPr>
          <a:xfrm>
            <a:off x="9802368" y="3493008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2033"/>
                </a:solidFill>
              </a:rPr>
              <a:t>55,9%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9802368" y="3858768"/>
            <a:ext cx="18105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2748A"/>
                </a:solidFill>
              </a:rPr>
              <a:t>IRR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600200" y="5074920"/>
            <a:ext cx="9006840" cy="65836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2700">
            <a:solidFill>
              <a:srgbClr val="E3EAF5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7" name="Text 35"/>
          <p:cNvSpPr/>
          <p:nvPr/>
        </p:nvSpPr>
        <p:spPr>
          <a:xfrm>
            <a:off x="1828800" y="5285232"/>
            <a:ext cx="8549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02033"/>
                </a:solidFill>
              </a:rPr>
              <a:t>Дополнительно: базовый вариант — 252 000 ₽/год, проектный вариант — 129 600 ₽/год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3" name="Shape 1"/>
          <p:cNvSpPr/>
          <p:nvPr/>
        </p:nvSpPr>
        <p:spPr>
          <a:xfrm>
            <a:off x="530352" y="411480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4" name="Text 2"/>
          <p:cNvSpPr/>
          <p:nvPr/>
        </p:nvSpPr>
        <p:spPr>
          <a:xfrm>
            <a:off x="530352" y="416052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40233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2033"/>
                </a:solidFill>
              </a:rPr>
              <a:t>Параметрика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05156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02033"/>
                </a:solidFill>
              </a:rPr>
              <a:t>Заключение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777240" y="1874520"/>
            <a:ext cx="56692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8" name="Shape 6"/>
          <p:cNvSpPr/>
          <p:nvPr/>
        </p:nvSpPr>
        <p:spPr>
          <a:xfrm>
            <a:off x="777240" y="1874520"/>
            <a:ext cx="73152" cy="84124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9" name="Text 7"/>
          <p:cNvSpPr/>
          <p:nvPr/>
        </p:nvSpPr>
        <p:spPr>
          <a:xfrm>
            <a:off x="1005840" y="2020824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Система разработана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05840" y="2350008"/>
            <a:ext cx="530352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созданы админ‑панель, backend API, PostgreSQL‑модель и Unity C#‑модуль.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56692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2" name="Shape 10"/>
          <p:cNvSpPr/>
          <p:nvPr/>
        </p:nvSpPr>
        <p:spPr>
          <a:xfrm>
            <a:off x="777240" y="2926080"/>
            <a:ext cx="73152" cy="8412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3" name="Text 11"/>
          <p:cNvSpPr/>
          <p:nvPr/>
        </p:nvSpPr>
        <p:spPr>
          <a:xfrm>
            <a:off x="1005840" y="3072384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A/B‑тесты без повторной публикации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401568"/>
            <a:ext cx="530352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параметры выдаются сервером, а клиент использует fallback при ошибках.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977640"/>
            <a:ext cx="566928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7620">
            <a:solidFill>
              <a:srgbClr val="E3EAF5"/>
            </a:solidFill>
            <a:prstDash val="solid"/>
          </a:ln>
          <a:effectLst>
            <a:outerShdw blurRad="12700" dist="50800" dir="2700000" algn="bl" rotWithShape="0">
              <a:srgbClr val="D7E2F0">
                <a:alpha val="16000"/>
              </a:srgbClr>
            </a:outerShdw>
          </a:effectLst>
        </p:spPr>
        <p:txBody>
          <a:bodyPr/>
          <a:lstStyle/>
          <a:p>
            <a:endParaRPr lang="ru-RU"/>
          </a:p>
        </p:txBody>
      </p:sp>
      <p:sp>
        <p:nvSpPr>
          <p:cNvPr id="16" name="Shape 14"/>
          <p:cNvSpPr/>
          <p:nvPr/>
        </p:nvSpPr>
        <p:spPr>
          <a:xfrm>
            <a:off x="777240" y="3977640"/>
            <a:ext cx="73152" cy="8412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17" name="Text 15"/>
          <p:cNvSpPr/>
          <p:nvPr/>
        </p:nvSpPr>
        <p:spPr>
          <a:xfrm>
            <a:off x="1005840" y="4123944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2033"/>
                </a:solidFill>
              </a:rPr>
              <a:t>Проект экономически обоснован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05840" y="4453128"/>
            <a:ext cx="5303520" cy="2468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62748A"/>
                </a:solidFill>
              </a:rPr>
              <a:t>трудозатраты снижаются на 48,6%, простой срок окупаемости — 1,32 года.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3794760" y="5550935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563EB"/>
                </a:solidFill>
              </a:rPr>
              <a:t>Спасибо за </a:t>
            </a:r>
            <a:r>
              <a:rPr lang="en-US" sz="2400" b="1" dirty="0" err="1">
                <a:solidFill>
                  <a:srgbClr val="2563EB"/>
                </a:solidFill>
              </a:rPr>
              <a:t>внимание</a:t>
            </a:r>
            <a:r>
              <a:rPr lang="en-US" sz="2400" b="1" dirty="0">
                <a:solidFill>
                  <a:srgbClr val="2563EB"/>
                </a:solidFill>
              </a:rPr>
              <a:t>!</a:t>
            </a:r>
            <a:endParaRPr lang="en-US" sz="2400" dirty="0"/>
          </a:p>
        </p:txBody>
      </p:sp>
      <p:sp>
        <p:nvSpPr>
          <p:cNvPr id="22" name="Shape 19"/>
          <p:cNvSpPr/>
          <p:nvPr/>
        </p:nvSpPr>
        <p:spPr>
          <a:xfrm>
            <a:off x="411480" y="641908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ru-RU"/>
          </a:p>
        </p:txBody>
      </p:sp>
      <p:sp>
        <p:nvSpPr>
          <p:cNvPr id="23" name="Text 20"/>
          <p:cNvSpPr/>
          <p:nvPr/>
        </p:nvSpPr>
        <p:spPr>
          <a:xfrm>
            <a:off x="411480" y="6423660"/>
            <a:ext cx="3108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795528" y="640994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2033"/>
                </a:solidFill>
              </a:rPr>
              <a:t>Параметрика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1356848" y="6419088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2748A"/>
                </a:solidFill>
              </a:rPr>
              <a:t>25</a:t>
            </a:r>
            <a:endParaRPr lang="en-US" sz="900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FE1DDD18-DA0A-BD29-A0B6-6C6711D158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8026" y="1303020"/>
            <a:ext cx="4909378" cy="3496608"/>
          </a:xfrm>
          <a:prstGeom prst="roundRect">
            <a:avLst>
              <a:gd name="adj" fmla="val 4837"/>
            </a:avLst>
          </a:prstGeom>
          <a:ln w="19050">
            <a:solidFill>
              <a:srgbClr val="448FFE"/>
            </a:solidFill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</TotalTime>
  <Words>1278</Words>
  <Application>Microsoft Office PowerPoint</Application>
  <PresentationFormat>Широкоэкранный</PresentationFormat>
  <Paragraphs>338</Paragraphs>
  <Slides>26</Slides>
  <Notes>25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0" baseType="lpstr">
      <vt:lpstr>Arial</vt:lpstr>
      <vt:lpstr>Consolas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ИС A/B-тестирования параметров веб-приложений</dc:title>
  <dc:subject>Дипломная презентация</dc:subject>
  <dc:creator>OpenAI</dc:creator>
  <cp:lastModifiedBy>Алексей Демкин</cp:lastModifiedBy>
  <cp:revision>20</cp:revision>
  <dcterms:created xsi:type="dcterms:W3CDTF">2026-05-27T12:41:00Z</dcterms:created>
  <dcterms:modified xsi:type="dcterms:W3CDTF">2026-05-27T21:56:08Z</dcterms:modified>
</cp:coreProperties>
</file>